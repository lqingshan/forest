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146304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21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9B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434840" y="123444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多商家商城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业务架构设计方案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480560" y="278892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 · 订单 · 支付 · 分账 · 售后 · 对账 · 平台治理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3703320"/>
            <a:ext cx="1938528" cy="329184"/>
          </a:xfrm>
          <a:prstGeom prst="roundRect">
            <a:avLst>
              <a:gd name="adj" fmla="val 16667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37856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SPU/Item/SKU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29400" y="3703320"/>
            <a:ext cx="1938528" cy="329184"/>
          </a:xfrm>
          <a:prstGeom prst="roundRect">
            <a:avLst>
              <a:gd name="adj" fmla="val 16667"/>
            </a:avLst>
          </a:prstGeom>
          <a:solidFill>
            <a:srgbClr val="355F55"/>
          </a:solidFill>
          <a:ln w="12700">
            <a:solidFill>
              <a:srgbClr val="4F74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37856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跨店一次支付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778240" y="3703320"/>
            <a:ext cx="1938528" cy="329184"/>
          </a:xfrm>
          <a:prstGeom prst="roundRect">
            <a:avLst>
              <a:gd name="adj" fmla="val 16667"/>
            </a:avLst>
          </a:prstGeom>
          <a:solidFill>
            <a:srgbClr val="355F55"/>
          </a:solidFill>
          <a:ln w="12700">
            <a:solidFill>
              <a:srgbClr val="4F7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7968" y="37856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支付冻结后分账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4215384"/>
            <a:ext cx="1938528" cy="329184"/>
          </a:xfrm>
          <a:prstGeom prst="roundRect">
            <a:avLst>
              <a:gd name="adj" fmla="val 16667"/>
            </a:avLst>
          </a:prstGeom>
          <a:solidFill>
            <a:srgbClr val="355F55"/>
          </a:solidFill>
          <a:ln w="12700">
            <a:solidFill>
              <a:srgbClr val="4F74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4297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微信/支付宝双渠道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29400" y="4215384"/>
            <a:ext cx="1938528" cy="329184"/>
          </a:xfrm>
          <a:prstGeom prst="roundRect">
            <a:avLst>
              <a:gd name="adj" fmla="val 16667"/>
            </a:avLst>
          </a:prstGeom>
          <a:solidFill>
            <a:srgbClr val="355F55"/>
          </a:solidFill>
          <a:ln w="12700">
            <a:solidFill>
              <a:srgbClr val="4F74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429768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6080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深度审核版 · 2026-05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325880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72184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业务目标与设计原则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978408" y="1801368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先建立全景与对象关系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479292" y="1325880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9292" y="1325880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0460" y="1472184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核心业务模型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680460" y="1801368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先建立全景与对象关系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6181344" y="1325880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325880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472184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核心模块拆分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382512" y="1801368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先建立全景与对象关系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8883396" y="1325880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83396" y="1325880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84564" y="1472184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商品与 SPU/SKU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084564" y="1801368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再进入关键链路细节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777240" y="3675888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675888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3822192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跨店订单与支付批次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978408" y="4151376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再进入关键链路细节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479292" y="3675888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9292" y="3675888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0460" y="3822192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支付、退款、分账与对账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3680460" y="4151376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再进入关键链路细节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181344" y="3675888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3675888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822192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履约、售后与评价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6382512" y="4151376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再进入关键链路细节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8883396" y="3675888"/>
            <a:ext cx="250088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883396" y="3675888"/>
            <a:ext cx="73152" cy="213055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4564" y="3822192"/>
            <a:ext cx="21899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状态机、金额规则与落地路径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9084564" y="4151376"/>
            <a:ext cx="21899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审核关注：边界、状态、金额、异常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再进入关键链路细节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一页看懂整体方案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2044598" cy="1188720"/>
          </a:xfrm>
          <a:prstGeom prst="roundRect">
            <a:avLst>
              <a:gd name="adj" fmla="val 461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95528" y="1655064"/>
            <a:ext cx="18251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订单/售后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712110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94990" y="1234440"/>
            <a:ext cx="2044598" cy="1188720"/>
          </a:xfrm>
          <a:prstGeom prst="roundRect">
            <a:avLst>
              <a:gd name="adj" fmla="val 461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471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支付批次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004718" y="1655064"/>
            <a:ext cx="18251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聚合多店铺订单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承接一次付款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921301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4181" y="1234440"/>
            <a:ext cx="204459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店铺订单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213909" y="1655064"/>
            <a:ext cx="18251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商家履约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平台运营主对象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130491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3371" y="1234440"/>
            <a:ext cx="2044598" cy="1188720"/>
          </a:xfrm>
          <a:prstGeom prst="roundRect">
            <a:avLst>
              <a:gd name="adj" fmla="val 461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309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商品明细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423099" y="1655064"/>
            <a:ext cx="18251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快照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退款/评价粒度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339682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22562" y="1234440"/>
            <a:ext cx="2044598" cy="1188720"/>
          </a:xfrm>
          <a:prstGeom prst="roundRect">
            <a:avLst>
              <a:gd name="adj" fmla="val 461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2290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资金闭环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632290" y="1655064"/>
            <a:ext cx="18251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支付冻结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退款回退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T+7 分账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777240" y="2971800"/>
            <a:ext cx="5202936" cy="1147572"/>
          </a:xfrm>
          <a:prstGeom prst="roundRect">
            <a:avLst>
              <a:gd name="adj" fmla="val 637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2971800"/>
            <a:ext cx="73152" cy="11475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311810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8408" y="3447288"/>
            <a:ext cx="4892040" cy="5715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只看到本店 shop_order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处理商品、库存、发货、售后、分账明细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181344" y="2971800"/>
            <a:ext cx="5202936" cy="1147572"/>
          </a:xfrm>
          <a:prstGeom prst="roundRect">
            <a:avLst>
              <a:gd name="adj" fmla="val 637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2971800"/>
            <a:ext cx="73152" cy="11475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11810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82512" y="3447288"/>
            <a:ext cx="4892040" cy="5715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订单中心按 shop_order 运营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支付/对账按 payment_batch 追踪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77240" y="4338828"/>
            <a:ext cx="5202936" cy="1147572"/>
          </a:xfrm>
          <a:prstGeom prst="roundRect">
            <a:avLst>
              <a:gd name="adj" fmla="val 637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7240" y="4338828"/>
            <a:ext cx="73152" cy="11475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" y="44851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支付域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8408" y="4814316"/>
            <a:ext cx="4892040" cy="5715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是渠道支付尝试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不直接理解商城订单结构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181344" y="4338828"/>
            <a:ext cx="5202936" cy="1147572"/>
          </a:xfrm>
          <a:prstGeom prst="roundRect">
            <a:avLst>
              <a:gd name="adj" fmla="val 637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81344" y="4338828"/>
            <a:ext cx="73152" cy="11475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44851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结算域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82512" y="4814316"/>
            <a:ext cx="4892040" cy="5715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profit_share_order 关联 shop_order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按商家、订单、金额分账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业务目标与设计原则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先明确这套商城为什么要这样拆，而不是把商品、订单、支付揉成一张大表。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业务目标与设计原则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我们要解决什么问题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多商家经营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商家入驻、店铺经营、经营类目授权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平台需要审核、治理、结算、对账能力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92168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2168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3336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商品标准化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3336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平台维护 SPU 标准库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商家发布 Item/SKU，兼顾统一和灵活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071104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1104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2272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跨店一次支付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2272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用户一次结算、一次付款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系统按店铺拆订单、按订单履约和分账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3232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双渠道资金链路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微信、支付宝均要支持支付、退款、分账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渠道差异收敛到适配器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392168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2168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3336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资金可追溯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3336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支付冻结、退款、分账、回退、补贴都要有本地账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每日对账发现漏单和错账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071104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71104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2272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可治理可扩展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2272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商品审核、商家处罚、操作审计、异常处理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首版不做多仓和复杂营销，保留扩展边界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为什么参考成熟平台电商模型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998878" cy="1051560"/>
          </a:xfrm>
          <a:prstGeom prst="roundRect">
            <a:avLst>
              <a:gd name="adj" fmla="val 521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62456"/>
            <a:ext cx="1779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平台标准商品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86968" y="1655064"/>
            <a:ext cx="177942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SPU/类目/属性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由平台统一维护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757830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40710" y="1234440"/>
            <a:ext cx="199887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0438" y="1362456"/>
            <a:ext cx="1779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商家发布商品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050438" y="1655064"/>
            <a:ext cx="177942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Item/SKU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承接店铺经营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921301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4181" y="1234440"/>
            <a:ext cx="1998878" cy="1051560"/>
          </a:xfrm>
          <a:prstGeom prst="roundRect">
            <a:avLst>
              <a:gd name="adj" fmla="val 521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1362456"/>
            <a:ext cx="1779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213909" y="1655064"/>
            <a:ext cx="177942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承接跨店收银台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084771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7651" y="1234440"/>
            <a:ext cx="199887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7379" y="1362456"/>
            <a:ext cx="1779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店铺履约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377379" y="1655064"/>
            <a:ext cx="177942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按店铺发货/售后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248242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31122" y="1234440"/>
            <a:ext cx="1998878" cy="1051560"/>
          </a:xfrm>
          <a:prstGeom prst="roundRect">
            <a:avLst>
              <a:gd name="adj" fmla="val 521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0850" y="1362456"/>
            <a:ext cx="17794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订单分账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540850" y="1655064"/>
            <a:ext cx="177942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profit_share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按店铺订单分钱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68680" y="2971800"/>
            <a:ext cx="33558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2971800"/>
            <a:ext cx="73152" cy="224028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31181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避免商品库混乱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69848" y="3447288"/>
            <a:ext cx="304495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品牌、型号、关键属性在 SPU 标准化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搜索、筛选、同款聚合更可控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425696" y="2971800"/>
            <a:ext cx="33558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25696" y="2971800"/>
            <a:ext cx="73152" cy="224028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1181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避免跨店履约混乱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26864" y="3447288"/>
            <a:ext cx="304495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用户可一次支付，但商家不能共享跨店总单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每个商家只处理自己的店铺订单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982712" y="2971800"/>
            <a:ext cx="33558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82712" y="2971800"/>
            <a:ext cx="73152" cy="224028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31181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避免资金账不清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3447288"/>
            <a:ext cx="3044952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支付批次负责收钱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店铺订单负责履约、退款、分账、对账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标准化与经营分离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 是平台标准商品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Item/SKU 是商家经营商品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92168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2168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3336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支付与订单分离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3336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是一次付款动作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是店铺履约对象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071104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1104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2272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订单与明细分离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2272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管整单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管商品、售后、评价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3232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履约与资金分离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发货、售后、分账各有独立状态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避免一个 status 表达所有事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392168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2168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3336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金额必须可复算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3336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订单和明细都存快照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分摊到分，差额规则固定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071104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71104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2272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渠道差异可替换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2272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业务只依赖网关接口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微信/支付宝差异留在适配器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场景的额外关注点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98448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98448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4475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主体与资质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773936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买家、商家都可能是企业主体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商家经营类目和支付账户需要审核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181344" y="1298448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98448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4475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价格与库存可信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1773936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价格变化需提交时重算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库存提交即锁，避免付款后无货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7240" y="3557016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557016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70332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财务闭环更重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4032504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分账、补贴、手续费、佣金、退款都要对账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平台后台要能追踪每一笔差异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81344" y="3557016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557016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70332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治理和审计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4032504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商品审核、SKU 变更、商家取消、退款介入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关键操作必须可追责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用三组对象把商品、交易、资金说清楚。所有后续表结构和接口都围绕它展开。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整体业务对象关系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1597152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16736"/>
            <a:ext cx="137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86968" y="1609344"/>
            <a:ext cx="1377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平台标准商品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356104" y="1568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38984" y="1188720"/>
            <a:ext cx="15971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8712" y="1316736"/>
            <a:ext cx="137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648712" y="1609344"/>
            <a:ext cx="1377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商家发布商品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谁在卖/怎么卖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117848" y="1568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0728" y="1188720"/>
            <a:ext cx="1597152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0456" y="1316736"/>
            <a:ext cx="137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410456" y="1609344"/>
            <a:ext cx="1377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可售规格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价格/库存/规格图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1597152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1316736"/>
            <a:ext cx="137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464808" y="1609344"/>
            <a:ext cx="1377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一次支付批次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33944" y="1568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16824" y="1188720"/>
            <a:ext cx="15971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6552" y="1316736"/>
            <a:ext cx="137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8226552" y="1609344"/>
            <a:ext cx="1377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店铺订单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9695688" y="1568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78568" y="1188720"/>
            <a:ext cx="1597152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88296" y="1316736"/>
            <a:ext cx="1377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9988296" y="1609344"/>
            <a:ext cx="1377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商品明细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77240" y="3063240"/>
            <a:ext cx="52486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3063240"/>
            <a:ext cx="73152" cy="1078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32095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支付执行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8408" y="3538728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-&gt; payment_batch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一个支付批次可有多次渠道支付尝试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227064" y="3063240"/>
            <a:ext cx="52486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27064" y="3063240"/>
            <a:ext cx="73152" cy="1078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2095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退款执行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28232" y="3538728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refund_order -&gt; order_item/shop_order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售后决定能不能退，refund 决定钱有没有退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77240" y="4361688"/>
            <a:ext cx="52486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7240" y="4361688"/>
            <a:ext cx="73152" cy="1078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45079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分账执行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8408" y="4837176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profit_share_order -&gt; shop_order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 T+7 后按店铺订单分账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227064" y="4361688"/>
            <a:ext cx="524865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27064" y="4361688"/>
            <a:ext cx="73152" cy="1078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45079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对账执行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28232" y="4837176"/>
            <a:ext cx="4937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渠道账单 vs 本地账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支付、退款、分账、资金流水每日核对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三组核心对象解释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201168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35331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对象组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2724912" y="1234440"/>
            <a:ext cx="292608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353312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核心对象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5650992" y="1234440"/>
            <a:ext cx="292608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24144" y="1353312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回答的问题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8577072" y="1234440"/>
            <a:ext cx="292608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0224" y="1353312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典型字段/动作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13232" y="1892808"/>
            <a:ext cx="2011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01168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商品建模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2724912" y="1892808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20116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 / Item / SKU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5650992" y="1892808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20116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这是什么商品？谁在卖？哪个规格可买？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8577072" y="1892808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2011680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类目、品牌、标题、规格、价格、库存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713232" y="2551176"/>
            <a:ext cx="20116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267004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交易建模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2724912" y="2551176"/>
            <a:ext cx="29260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98064" y="2670048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/ shop_order / order_item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650992" y="2551176"/>
            <a:ext cx="29260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2670048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一次付款对应哪些店铺订单？每个订单包含哪些商品？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8577072" y="2551176"/>
            <a:ext cx="29260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0224" y="2670048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支付批次号、店铺订单号、商品快照、状态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713232" y="3209544"/>
            <a:ext cx="2011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32841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资金建模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2724912" y="3209544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8064" y="332841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/ refund_order / profit_share_order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5650992" y="3209544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24144" y="332841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钱是否收到了？退了多少？分给谁？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8577072" y="3209544"/>
            <a:ext cx="29260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50224" y="3328416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渠道单号、退款单号、分账单号、接收方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713232" y="3867912"/>
            <a:ext cx="20116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398678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治理建模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2724912" y="3867912"/>
            <a:ext cx="29260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98064" y="3986784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/ reconciliation / report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5650992" y="3867912"/>
            <a:ext cx="29260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24144" y="3986784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谁操作过？账是否一致？经营结果如何？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8577072" y="3867912"/>
            <a:ext cx="29260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0224" y="3986784"/>
            <a:ext cx="2779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审计日志、对账异常、经营指标</a:t>
            </a:r>
            <a:endParaRPr lang="en-US" sz="8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 / Item / SKU 的边界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6187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61872"/>
            <a:ext cx="73152" cy="19202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081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SPU：平台标准商品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737360"/>
            <a:ext cx="309067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由平台维护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绑定类目、品牌、关键属性、标准参数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用于搜索、筛选、同款聚合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79976" y="126187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9976" y="1261872"/>
            <a:ext cx="73152" cy="19202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4081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Item：商家发布商品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81144" y="1737360"/>
            <a:ext cx="309067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由商家发布，平台审核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 SPU 和店铺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承载标题、主图、详情、运费模板、服务承诺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982712" y="1261872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82712" y="1261872"/>
            <a:ext cx="73152" cy="19202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4081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SKU：可售规格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3880" y="1737360"/>
            <a:ext cx="309067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由销售属性组合生成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承载价格、库存、规格图、SKU 编码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删除规格只禁售，不物理删除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7240" y="3977640"/>
            <a:ext cx="1989734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105656"/>
            <a:ext cx="1770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86968" y="4398264"/>
            <a:ext cx="17702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决定属性模板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748686" y="4357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31566" y="3977640"/>
            <a:ext cx="198973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1294" y="4105656"/>
            <a:ext cx="1770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3041294" y="4398264"/>
            <a:ext cx="17702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区分关键/销售/普通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4903013" y="4357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85893" y="3977640"/>
            <a:ext cx="1989734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5621" y="4105656"/>
            <a:ext cx="1770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195621" y="4398264"/>
            <a:ext cx="17702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沉淀标准参数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7057339" y="4357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40219" y="3977640"/>
            <a:ext cx="198973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9947" y="4105656"/>
            <a:ext cx="1770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349947" y="4398264"/>
            <a:ext cx="17702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承接商家经营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11666" y="43571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394546" y="3977640"/>
            <a:ext cx="1989734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4274" y="4105656"/>
            <a:ext cx="1770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9504274" y="4398264"/>
            <a:ext cx="17702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承接交易库存</a:t>
            </a:r>
            <a:endParaRPr lang="en-US" sz="7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/ shop_order / order_item 的边界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34015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143000"/>
            <a:ext cx="73152" cy="21031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289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18488"/>
            <a:ext cx="309067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用户一次支付动作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跨店金额汇总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绑定多个 shop_order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平台查账和支付回调入口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79976" y="1143000"/>
            <a:ext cx="34015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9976" y="1143000"/>
            <a:ext cx="73152" cy="21031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289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81144" y="1618488"/>
            <a:ext cx="309067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店铺订单/商家订单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商家端可见主对象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一次发货、售后聚合、分账单位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982712" y="1143000"/>
            <a:ext cx="34015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82712" y="1143000"/>
            <a:ext cx="73152" cy="21031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2893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3880" y="1618488"/>
            <a:ext cx="309067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商品明细/SKU 快照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单品退款、部分数量退、评价粒度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保存金额分摊结果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0120" y="402336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关键判断：跨店聚合不暴露给商家；商家只处理本店 shop_order。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1560" y="4709160"/>
            <a:ext cx="2391156" cy="822960"/>
          </a:xfrm>
          <a:prstGeom prst="roundRect">
            <a:avLst>
              <a:gd name="adj" fmla="val 666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8" y="4837176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用户一次付款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1161288" y="5129784"/>
            <a:ext cx="2171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424428" y="5020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07308" y="4709160"/>
            <a:ext cx="239115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7036" y="4837176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A 履约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717036" y="5129784"/>
            <a:ext cx="2171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A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5980176" y="5020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3056" y="4709160"/>
            <a:ext cx="239115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4837176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B 履约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272784" y="5129784"/>
            <a:ext cx="2171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B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8535924" y="5020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718804" y="4709160"/>
            <a:ext cx="2391156" cy="822960"/>
          </a:xfrm>
          <a:prstGeom prst="roundRect">
            <a:avLst>
              <a:gd name="adj" fmla="val 666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28532" y="4837176"/>
            <a:ext cx="2171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明细退款评价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8828532" y="5129784"/>
            <a:ext cx="2171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7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不是子订单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86384" y="1170432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1170432"/>
            <a:ext cx="73152" cy="4251960"/>
          </a:xfrm>
          <a:prstGeom prst="rect">
            <a:avLst/>
          </a:prstGeom>
          <a:solidFill>
            <a:srgbClr val="B94A48"/>
          </a:solidFill>
          <a:ln w="12700">
            <a:solidFill>
              <a:srgbClr val="B94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316736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容易混淆的叫法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645920"/>
            <a:ext cx="3118104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 shop_order 叫成“子订单”。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它是店铺维度的主订单，商家端看到和处理的就是它。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真正的商品子单/明细是 order_item。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481328"/>
            <a:ext cx="2008632" cy="1143000"/>
          </a:xfrm>
          <a:prstGeom prst="roundRect">
            <a:avLst>
              <a:gd name="adj" fmla="val 4800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609344"/>
            <a:ext cx="1789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727448" y="1901952"/>
            <a:ext cx="17891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用户一次支付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不是订单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6608064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90944" y="1481328"/>
            <a:ext cx="200863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0672" y="1609344"/>
            <a:ext cx="1789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900672" y="1901952"/>
            <a:ext cx="17891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店铺订单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一次发货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781288" y="1952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4168" y="1481328"/>
            <a:ext cx="2008632" cy="1143000"/>
          </a:xfrm>
          <a:prstGeom prst="roundRect">
            <a:avLst>
              <a:gd name="adj" fmla="val 48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3896" y="1609344"/>
            <a:ext cx="1789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9073896" y="1901952"/>
            <a:ext cx="17891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商品明细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售后/评价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4617720" y="342900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3429000"/>
            <a:ext cx="73152" cy="15087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57530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首版发货口径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818888" y="3904488"/>
            <a:ext cx="167335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shop_order 一次发货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不支持部分发货、多包裹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803136" y="342900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3429000"/>
            <a:ext cx="73152" cy="15087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357530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售后口径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004304" y="3904488"/>
            <a:ext cx="167335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售后可按 order_item 和数量申请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但发货状态仍归属 shop_order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8988552" y="3429000"/>
            <a:ext cx="19842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88552" y="3429000"/>
            <a:ext cx="73152" cy="15087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357530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分账口径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189720" y="3904488"/>
            <a:ext cx="167335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分账按 shop_order 聚合计算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明细用于金额分摊和退款追溯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三端视角差异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核心业务模型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1234440"/>
            <a:ext cx="20116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53312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761488" y="1234440"/>
            <a:ext cx="29260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35331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687568" y="1234440"/>
            <a:ext cx="29260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35331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8613648" y="1234440"/>
            <a:ext cx="283464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3533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49808" y="1801368"/>
            <a:ext cx="2011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9202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761488" y="1801368"/>
            <a:ext cx="2926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1920240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看到一次支付成功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687568" y="1801368"/>
            <a:ext cx="2926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920240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不看跨店支付全貌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613648" y="1801368"/>
            <a:ext cx="28346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192024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payment_batch 与 payment_order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49808" y="2368296"/>
            <a:ext cx="20116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48716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61488" y="2368296"/>
            <a:ext cx="29260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248716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按店铺订单展示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687568" y="2368296"/>
            <a:ext cx="29260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48716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只看本店 shop_order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613648" y="2368296"/>
            <a:ext cx="283464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248716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默认按 shop_order 运营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49808" y="2935224"/>
            <a:ext cx="2011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054096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761488" y="2935224"/>
            <a:ext cx="2926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054096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多个店铺可能多个物流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687568" y="2935224"/>
            <a:ext cx="2926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054096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本店订单一次发货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613648" y="2935224"/>
            <a:ext cx="28346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05409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监控商家履约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49808" y="3502152"/>
            <a:ext cx="20116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62102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761488" y="3502152"/>
            <a:ext cx="29260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3621024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按商品/数量申请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5687568" y="3502152"/>
            <a:ext cx="29260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3621024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处理本店售后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8613648" y="3502152"/>
            <a:ext cx="283464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3621024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介入争议和异常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749808" y="4069080"/>
            <a:ext cx="2011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187952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761488" y="4069080"/>
            <a:ext cx="2926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418795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只关心支付/退款结果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687568" y="4069080"/>
            <a:ext cx="29260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4187952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看分账明细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613648" y="4069080"/>
            <a:ext cx="28346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418795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看冻结、分账、补贴、对账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核心模块拆分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先看系统边界，再进入商品、订单、支付分账细节。模块拆分决定后续研发组织方式。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核心模块拆分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模块全景图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527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527048" y="12527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商品标准库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907792" y="1161288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2527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840480" y="12527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商家店铺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221224" y="1161288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12527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153912" y="12527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商家商品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534656" y="1161288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12527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467344" y="12527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94360" y="1856232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19476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527048" y="19476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购物车结算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2907792" y="1856232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19476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840480" y="19476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221224" y="1856232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19476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153912" y="19476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534656" y="1856232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9476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467344" y="19476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94360" y="2551176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26426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527048" y="26426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履约物流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2907792" y="2551176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26426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aftersale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840480" y="26426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5221224" y="2551176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0952" y="26426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6153912" y="26426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分账结算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534656" y="2551176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44384" y="26426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67344" y="26426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594360" y="3246120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" y="33375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1527048" y="33375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2907792" y="3246120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33375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3840480" y="33375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5221224" y="3246120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30952" y="33375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6153912" y="33375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审计权限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7534656" y="3246120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44384" y="33375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8467344" y="333756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594360" y="3941064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" y="403250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87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1527048" y="403250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9966960" y="1188720"/>
            <a:ext cx="1600200" cy="40233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966960" y="1188720"/>
            <a:ext cx="73152" cy="40233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168128" y="1335024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拆分原则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168128" y="1664208"/>
            <a:ext cx="128930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单域拥有自己的表和核心服务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跨域流程放 aggregation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支付域保持业务无关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财务域保留对账证据</a:t>
            </a:r>
            <a:endParaRPr lang="en-US" sz="8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模块分层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2011680" cy="804672"/>
          </a:xfrm>
          <a:prstGeom prst="roundRect">
            <a:avLst>
              <a:gd name="adj" fmla="val 5682"/>
            </a:avLst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99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基础经营层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1115568"/>
            <a:ext cx="8046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115568"/>
            <a:ext cx="73152" cy="859536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61872"/>
            <a:ext cx="7735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 / merchant / item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591056"/>
            <a:ext cx="773582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定义平台商品标准、商家主体、店铺经营商品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2313432"/>
            <a:ext cx="2011680" cy="804672"/>
          </a:xfrm>
          <a:prstGeom prst="roundRect">
            <a:avLst>
              <a:gd name="adj" fmla="val 5682"/>
            </a:avLst>
          </a:prstGeom>
          <a:solidFill>
            <a:srgbClr val="285248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694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交易履约层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63240" y="2286000"/>
            <a:ext cx="8046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286000"/>
            <a:ext cx="73152" cy="85953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432304"/>
            <a:ext cx="7735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 / checkout / order / fulfillment / aftersale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2761488"/>
            <a:ext cx="773582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完成从结算、锁库存、订单、发货到售后的业务闭环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77240" y="3483864"/>
            <a:ext cx="2011680" cy="804672"/>
          </a:xfrm>
          <a:prstGeom prst="roundRect">
            <a:avLst>
              <a:gd name="adj" fmla="val 5682"/>
            </a:avLst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398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3240" y="3456432"/>
            <a:ext cx="8046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3456432"/>
            <a:ext cx="73152" cy="859536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602736"/>
            <a:ext cx="7735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 / refund / settlement / reconciliation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3931920"/>
            <a:ext cx="773582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完成支付、退款、分账、补贴、渠道对账和异常修复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4654296"/>
            <a:ext cx="2011680" cy="804672"/>
          </a:xfrm>
          <a:prstGeom prst="roundRect">
            <a:avLst>
              <a:gd name="adj" fmla="val 5682"/>
            </a:avLst>
          </a:prstGeom>
          <a:solidFill>
            <a:srgbClr val="285248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10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运营治理层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3240" y="4626864"/>
            <a:ext cx="80467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4626864"/>
            <a:ext cx="73152" cy="85953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4773168"/>
            <a:ext cx="7735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promotion / review / audit / notification / report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64408" y="5102352"/>
            <a:ext cx="773582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支撑营销、评价、权限审计、通知和经营分析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核心链路模块流转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95528" y="165506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类目/属性/SPU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712110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94990" y="123444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471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004718" y="165506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商家商品/SKU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921301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4181" y="123444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213909" y="165506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库存锁定/释放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130491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3371" y="123444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309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checkout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423099" y="165506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重算/拆单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339682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22562" y="123444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2290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632290" y="165506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批次/店铺订单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85800" y="297180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09981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95528" y="339242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微信/支付宝收款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2712110" y="33512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94990" y="297180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4718" y="309981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fulfillment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004718" y="339242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商家发货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4921301" y="33512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04181" y="297180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3909" y="309981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aftersale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5213909" y="339242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退款/退货退款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7130491" y="33512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3371" y="297180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3099" y="309981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settlement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423099" y="339242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T+7 分账/补贴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9339682" y="33512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522562" y="2971800"/>
            <a:ext cx="2044598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32290" y="309981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reconciliation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9632290" y="3392424"/>
            <a:ext cx="18251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每日渠道对账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1097280" y="4800600"/>
            <a:ext cx="4882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97280" y="4800600"/>
            <a:ext cx="73152" cy="1005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98448" y="49469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主链路强调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298448" y="5276088"/>
            <a:ext cx="45720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checkout 是跨域编排入口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 是交易事实沉淀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payment/refund/settlement 保持资金凭证完整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6181344" y="4800600"/>
            <a:ext cx="4882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81344" y="4800600"/>
            <a:ext cx="73152" cy="1005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49469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事件补偿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82512" y="5276088"/>
            <a:ext cx="45720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支付成功、退款成功、确认收货、分账成功都发布领域事件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定时任务兜底扫描异常状态</a:t>
            </a:r>
            <a:endParaRPr lang="en-US" sz="7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模块边界原则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catalog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只管“商品是什么”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不关心价格、库存、订单、支付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92168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2168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3336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3336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catalog 和 merchant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不拥有库存流水和订单快照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071104" y="1207008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1104" y="1207008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2272" y="1353312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2272" y="1682496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只保证库存并发正确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不解释订单状态和支付状态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3232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 payment_batch/shop_order/order_item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不直接调渠道支付 SDK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392168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2168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3336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93336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只理解 biz_type + biz_order_id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resolver 获取业务快照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071104" y="3648456"/>
            <a:ext cx="3477768" cy="2221992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71104" y="3648456"/>
            <a:ext cx="73152" cy="222199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2272" y="3794760"/>
            <a:ext cx="316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settlement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2272" y="4123944"/>
            <a:ext cx="3166872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读取订单、退款和分账结果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不修改商品和库存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聚合层设计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34440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807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mall-checkout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709928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购物车结算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价格/活动/库存重算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submitToken 防重复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payment_batch + shop_order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81344" y="1234440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34440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807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mall-order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1709928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用户订单视图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商家订单视图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平台订单视图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跨域组装商品、物流、售后、支付信息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77240" y="3493008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93008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39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mall-finance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3968496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支付批次视图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退款/分账/补贴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渠道对账差异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财务导出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181344" y="3493008"/>
            <a:ext cx="5202936" cy="203911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93008"/>
            <a:ext cx="73152" cy="2039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39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mall-admin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3968496"/>
            <a:ext cx="48920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平台工作台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商品审核、商家治理、异常处理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跨模块运营视图</a:t>
            </a:r>
            <a:endParaRPr lang="en-US" sz="8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各模块首版范围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1078992"/>
            <a:ext cx="196596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197864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755" dirty="0"/>
          </a:p>
        </p:txBody>
      </p:sp>
      <p:sp>
        <p:nvSpPr>
          <p:cNvPr id="10" name="Shape 8"/>
          <p:cNvSpPr/>
          <p:nvPr/>
        </p:nvSpPr>
        <p:spPr>
          <a:xfrm>
            <a:off x="2587752" y="1078992"/>
            <a:ext cx="365760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197864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首版做什么</a:t>
            </a:r>
            <a:endParaRPr lang="en-US" sz="755" dirty="0"/>
          </a:p>
        </p:txBody>
      </p:sp>
      <p:sp>
        <p:nvSpPr>
          <p:cNvPr id="12" name="Shape 10"/>
          <p:cNvSpPr/>
          <p:nvPr/>
        </p:nvSpPr>
        <p:spPr>
          <a:xfrm>
            <a:off x="6245352" y="1078992"/>
            <a:ext cx="274320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1197864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暂不做什么</a:t>
            </a:r>
            <a:endParaRPr lang="en-US" sz="755" dirty="0"/>
          </a:p>
        </p:txBody>
      </p:sp>
      <p:sp>
        <p:nvSpPr>
          <p:cNvPr id="14" name="Shape 12"/>
          <p:cNvSpPr/>
          <p:nvPr/>
        </p:nvSpPr>
        <p:spPr>
          <a:xfrm>
            <a:off x="8988552" y="1078992"/>
            <a:ext cx="260604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1197864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</a:t>
            </a:r>
            <a:endParaRPr lang="en-US" sz="755" dirty="0"/>
          </a:p>
        </p:txBody>
      </p:sp>
      <p:sp>
        <p:nvSpPr>
          <p:cNvPr id="16" name="Shape 14"/>
          <p:cNvSpPr/>
          <p:nvPr/>
        </p:nvSpPr>
        <p:spPr>
          <a:xfrm>
            <a:off x="621792" y="1664208"/>
            <a:ext cx="19659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1783080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</a:t>
            </a:r>
            <a:endParaRPr lang="en-US" sz="755" dirty="0"/>
          </a:p>
        </p:txBody>
      </p:sp>
      <p:sp>
        <p:nvSpPr>
          <p:cNvPr id="18" name="Shape 16"/>
          <p:cNvSpPr/>
          <p:nvPr/>
        </p:nvSpPr>
        <p:spPr>
          <a:xfrm>
            <a:off x="2587752" y="1664208"/>
            <a:ext cx="36576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1783080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单库存、锁定库存、库存流水</a:t>
            </a:r>
            <a:endParaRPr lang="en-US" sz="755" dirty="0"/>
          </a:p>
        </p:txBody>
      </p:sp>
      <p:sp>
        <p:nvSpPr>
          <p:cNvPr id="20" name="Shape 18"/>
          <p:cNvSpPr/>
          <p:nvPr/>
        </p:nvSpPr>
        <p:spPr>
          <a:xfrm>
            <a:off x="6245352" y="1664208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78308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多仓、区域库存</a:t>
            </a:r>
            <a:endParaRPr lang="en-US" sz="755" dirty="0"/>
          </a:p>
        </p:txBody>
      </p:sp>
      <p:sp>
        <p:nvSpPr>
          <p:cNvPr id="22" name="Shape 20"/>
          <p:cNvSpPr/>
          <p:nvPr/>
        </p:nvSpPr>
        <p:spPr>
          <a:xfrm>
            <a:off x="8988552" y="1664208"/>
            <a:ext cx="26060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61704" y="1783080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并发超卖</a:t>
            </a:r>
            <a:endParaRPr lang="en-US" sz="755" dirty="0"/>
          </a:p>
        </p:txBody>
      </p:sp>
      <p:sp>
        <p:nvSpPr>
          <p:cNvPr id="24" name="Shape 22"/>
          <p:cNvSpPr/>
          <p:nvPr/>
        </p:nvSpPr>
        <p:spPr>
          <a:xfrm>
            <a:off x="621792" y="2249424"/>
            <a:ext cx="196596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368296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fulfillment</a:t>
            </a:r>
            <a:endParaRPr lang="en-US" sz="755" dirty="0"/>
          </a:p>
        </p:txBody>
      </p:sp>
      <p:sp>
        <p:nvSpPr>
          <p:cNvPr id="26" name="Shape 24"/>
          <p:cNvSpPr/>
          <p:nvPr/>
        </p:nvSpPr>
        <p:spPr>
          <a:xfrm>
            <a:off x="2587752" y="2249424"/>
            <a:ext cx="365760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2368296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快递公司+单号、自动确认收货</a:t>
            </a:r>
            <a:endParaRPr lang="en-US" sz="755" dirty="0"/>
          </a:p>
        </p:txBody>
      </p:sp>
      <p:sp>
        <p:nvSpPr>
          <p:cNvPr id="28" name="Shape 26"/>
          <p:cNvSpPr/>
          <p:nvPr/>
        </p:nvSpPr>
        <p:spPr>
          <a:xfrm>
            <a:off x="6245352" y="2249424"/>
            <a:ext cx="274320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36829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多包裹、部分发货</a:t>
            </a:r>
            <a:endParaRPr lang="en-US" sz="755" dirty="0"/>
          </a:p>
        </p:txBody>
      </p:sp>
      <p:sp>
        <p:nvSpPr>
          <p:cNvPr id="30" name="Shape 28"/>
          <p:cNvSpPr/>
          <p:nvPr/>
        </p:nvSpPr>
        <p:spPr>
          <a:xfrm>
            <a:off x="8988552" y="2249424"/>
            <a:ext cx="260604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61704" y="2368296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物流状态不准</a:t>
            </a:r>
            <a:endParaRPr lang="en-US" sz="755" dirty="0"/>
          </a:p>
        </p:txBody>
      </p:sp>
      <p:sp>
        <p:nvSpPr>
          <p:cNvPr id="32" name="Shape 30"/>
          <p:cNvSpPr/>
          <p:nvPr/>
        </p:nvSpPr>
        <p:spPr>
          <a:xfrm>
            <a:off x="621792" y="2834640"/>
            <a:ext cx="19659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295351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promotion</a:t>
            </a:r>
            <a:endParaRPr lang="en-US" sz="755" dirty="0"/>
          </a:p>
        </p:txBody>
      </p:sp>
      <p:sp>
        <p:nvSpPr>
          <p:cNvPr id="34" name="Shape 32"/>
          <p:cNvSpPr/>
          <p:nvPr/>
        </p:nvSpPr>
        <p:spPr>
          <a:xfrm>
            <a:off x="2587752" y="2834640"/>
            <a:ext cx="36576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0904" y="2953512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平台券、商家券、满减、活动价</a:t>
            </a:r>
            <a:endParaRPr lang="en-US" sz="755" dirty="0"/>
          </a:p>
        </p:txBody>
      </p:sp>
      <p:sp>
        <p:nvSpPr>
          <p:cNvPr id="36" name="Shape 34"/>
          <p:cNvSpPr/>
          <p:nvPr/>
        </p:nvSpPr>
        <p:spPr>
          <a:xfrm>
            <a:off x="6245352" y="2834640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295351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秒杀、拼团、复杂叠加</a:t>
            </a:r>
            <a:endParaRPr lang="en-US" sz="755" dirty="0"/>
          </a:p>
        </p:txBody>
      </p:sp>
      <p:sp>
        <p:nvSpPr>
          <p:cNvPr id="38" name="Shape 36"/>
          <p:cNvSpPr/>
          <p:nvPr/>
        </p:nvSpPr>
        <p:spPr>
          <a:xfrm>
            <a:off x="8988552" y="2834640"/>
            <a:ext cx="26060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61704" y="2953512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分摊和成本承担</a:t>
            </a:r>
            <a:endParaRPr lang="en-US" sz="755" dirty="0"/>
          </a:p>
        </p:txBody>
      </p:sp>
      <p:sp>
        <p:nvSpPr>
          <p:cNvPr id="40" name="Shape 38"/>
          <p:cNvSpPr/>
          <p:nvPr/>
        </p:nvSpPr>
        <p:spPr>
          <a:xfrm>
            <a:off x="621792" y="3419856"/>
            <a:ext cx="196596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35387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settlement</a:t>
            </a:r>
            <a:endParaRPr lang="en-US" sz="755" dirty="0"/>
          </a:p>
        </p:txBody>
      </p:sp>
      <p:sp>
        <p:nvSpPr>
          <p:cNvPr id="42" name="Shape 40"/>
          <p:cNvSpPr/>
          <p:nvPr/>
        </p:nvSpPr>
        <p:spPr>
          <a:xfrm>
            <a:off x="2587752" y="3419856"/>
            <a:ext cx="365760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0904" y="3538728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分账、佣金、补贴、失败重试</a:t>
            </a:r>
            <a:endParaRPr lang="en-US" sz="755" dirty="0"/>
          </a:p>
        </p:txBody>
      </p:sp>
      <p:sp>
        <p:nvSpPr>
          <p:cNvPr id="44" name="Shape 42"/>
          <p:cNvSpPr/>
          <p:nvPr/>
        </p:nvSpPr>
        <p:spPr>
          <a:xfrm>
            <a:off x="6245352" y="3419856"/>
            <a:ext cx="274320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35387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复杂账期、多币种</a:t>
            </a:r>
            <a:endParaRPr lang="en-US" sz="755" dirty="0"/>
          </a:p>
        </p:txBody>
      </p:sp>
      <p:sp>
        <p:nvSpPr>
          <p:cNvPr id="46" name="Shape 44"/>
          <p:cNvSpPr/>
          <p:nvPr/>
        </p:nvSpPr>
        <p:spPr>
          <a:xfrm>
            <a:off x="8988552" y="3419856"/>
            <a:ext cx="260604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61704" y="3538728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渠道限制和退款回退</a:t>
            </a:r>
            <a:endParaRPr lang="en-US" sz="755" dirty="0"/>
          </a:p>
        </p:txBody>
      </p:sp>
      <p:sp>
        <p:nvSpPr>
          <p:cNvPr id="48" name="Shape 46"/>
          <p:cNvSpPr/>
          <p:nvPr/>
        </p:nvSpPr>
        <p:spPr>
          <a:xfrm>
            <a:off x="621792" y="4005072"/>
            <a:ext cx="19659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" y="4123944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reconciliation</a:t>
            </a:r>
            <a:endParaRPr lang="en-US" sz="755" dirty="0"/>
          </a:p>
        </p:txBody>
      </p:sp>
      <p:sp>
        <p:nvSpPr>
          <p:cNvPr id="50" name="Shape 48"/>
          <p:cNvSpPr/>
          <p:nvPr/>
        </p:nvSpPr>
        <p:spPr>
          <a:xfrm>
            <a:off x="2587752" y="4005072"/>
            <a:ext cx="36576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60904" y="4123944"/>
            <a:ext cx="3511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每日账单导入、差异记录</a:t>
            </a:r>
            <a:endParaRPr lang="en-US" sz="755" dirty="0"/>
          </a:p>
        </p:txBody>
      </p:sp>
      <p:sp>
        <p:nvSpPr>
          <p:cNvPr id="52" name="Shape 50"/>
          <p:cNvSpPr/>
          <p:nvPr/>
        </p:nvSpPr>
        <p:spPr>
          <a:xfrm>
            <a:off x="6245352" y="4005072"/>
            <a:ext cx="27432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18504" y="4123944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实时全量对账</a:t>
            </a:r>
            <a:endParaRPr lang="en-US" sz="755" dirty="0"/>
          </a:p>
        </p:txBody>
      </p:sp>
      <p:sp>
        <p:nvSpPr>
          <p:cNvPr id="54" name="Shape 52"/>
          <p:cNvSpPr/>
          <p:nvPr/>
        </p:nvSpPr>
        <p:spPr>
          <a:xfrm>
            <a:off x="8988552" y="4005072"/>
            <a:ext cx="260604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61704" y="4123944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渠道账单字段差异</a:t>
            </a:r>
            <a:endParaRPr lang="en-US" sz="75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商品与 SPU/SKU 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商品建模是商城底座：类目决定属性，属性决定 SPU，销售属性生成 SKU。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商品与 SPU/SKU 设计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类目属性模板设计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1673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86968" y="160934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类目树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只允许挂叶子类目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275838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8718" y="118872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8446" y="131673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attribute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68446" y="160934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属性定义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品牌/颜色/尺码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957316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196" y="118872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9924" y="131673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attribute_value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249924" y="160934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属性值字典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红色/M/128G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638794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1674" y="118872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1402" y="131673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category_attribute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931402" y="160934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类目绑定属性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必填/筛选/销售属性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" y="3063240"/>
            <a:ext cx="32948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063240"/>
            <a:ext cx="73152" cy="2148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3209544"/>
            <a:ext cx="298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关键属性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5568" y="3538728"/>
            <a:ext cx="29839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SPU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如品牌、型号、款号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410456" y="3063240"/>
            <a:ext cx="32948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10456" y="3063240"/>
            <a:ext cx="73152" cy="2148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1624" y="3209544"/>
            <a:ext cx="298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销售属性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1624" y="3538728"/>
            <a:ext cx="29839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SKU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如颜色、尺码、容量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906512" y="3063240"/>
            <a:ext cx="329488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06512" y="3063240"/>
            <a:ext cx="73152" cy="2148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7680" y="3209544"/>
            <a:ext cx="2983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普通属性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07680" y="3538728"/>
            <a:ext cx="298399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搜索筛选和详情展示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如面料、屏幕尺寸、网络制式</a:t>
            </a:r>
            <a:endParaRPr lang="en-US" sz="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SPU 标准库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202936" cy="1970532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34440"/>
            <a:ext cx="73152" cy="197053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807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维护主体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709928"/>
            <a:ext cx="4892040" cy="13944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平台统一维护 SPU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商家不能自由创建 SPU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181344" y="1234440"/>
            <a:ext cx="5202936" cy="1970532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34440"/>
            <a:ext cx="73152" cy="197053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807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核心字段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709928"/>
            <a:ext cx="4892040" cy="13944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类目、品牌、标准标题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关键属性、标准参数、状态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777240" y="3424428"/>
            <a:ext cx="5202936" cy="1970532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24428"/>
            <a:ext cx="73152" cy="197053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5707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899916"/>
            <a:ext cx="4892040" cy="13944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搜索筛选更准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同款聚合更清楚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平台商品库可沉淀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181344" y="3424428"/>
            <a:ext cx="5202936" cy="1970532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24428"/>
            <a:ext cx="73152" cy="197053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5707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899916"/>
            <a:ext cx="4892040" cy="13944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 标准参数同步到关联 Item 展示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商家标题、详情、价格库存不被覆盖</a:t>
            </a:r>
            <a:endParaRPr lang="en-US" sz="9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 Item 发布流程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SPU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95528" y="1655064"/>
            <a:ext cx="1825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平台标准库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712110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94990" y="12344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471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 Item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004718" y="1655064"/>
            <a:ext cx="1825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标题/主图/详情/服务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921301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4181" y="12344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选择销售属性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213909" y="1655064"/>
            <a:ext cx="1825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颜色/尺码/容量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130491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3371" y="12344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309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SKU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423099" y="1655064"/>
            <a:ext cx="1825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组合、价格、库存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339682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22562" y="1234440"/>
            <a:ext cx="2044598" cy="1051560"/>
          </a:xfrm>
          <a:prstGeom prst="roundRect">
            <a:avLst>
              <a:gd name="adj" fmla="val 521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2290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提交审核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632290" y="1655064"/>
            <a:ext cx="1825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平台通过后上架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4400" y="3063240"/>
            <a:ext cx="506577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3063240"/>
            <a:ext cx="73152" cy="19202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32095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Item 承载经营差异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5568" y="3538728"/>
            <a:ext cx="47548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商家自己的标题、详情、主图、运费模板、售后承诺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不修改 SPU 标准定义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181344" y="3063240"/>
            <a:ext cx="506577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3063240"/>
            <a:ext cx="73152" cy="19202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2095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承载交易差异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82512" y="3538728"/>
            <a:ext cx="475488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Item 下不同规格可以有不同价格、库存、图片和编码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订单最终购买的是 SKU</a:t>
            </a:r>
            <a:endParaRPr lang="en-US" sz="8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生命周期规则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70432"/>
            <a:ext cx="219456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89304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880360" y="1170432"/>
            <a:ext cx="292608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28930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处理方式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806440" y="1170432"/>
            <a:ext cx="292608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128930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库存/订单影响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732520" y="1170432"/>
            <a:ext cx="278892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289304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" y="1755648"/>
            <a:ext cx="21945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187452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新增白色规格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880360" y="1755648"/>
            <a:ext cx="29260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187452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 SKU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806440" y="1755648"/>
            <a:ext cx="29260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87452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库存默认为 0 或商家录入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732520" y="1755648"/>
            <a:ext cx="27889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05672" y="1874520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新规格是新的可售单元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" y="2340864"/>
            <a:ext cx="219456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245973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删除黑色规格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80360" y="2340864"/>
            <a:ext cx="292608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2459736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SKU 标记 OFF_SALE/DISABLED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806440" y="2340864"/>
            <a:ext cx="292608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9592" y="2459736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库存、锁定库存、历史订单保留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732520" y="2340864"/>
            <a:ext cx="278892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05672" y="2459736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订单/售后/库存流水需要追溯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" y="2926080"/>
            <a:ext cx="21945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304495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修改价格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880360" y="2926080"/>
            <a:ext cx="29260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3512" y="3044952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即时生效并留日志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806440" y="2926080"/>
            <a:ext cx="29260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3044952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不影响历史订单快照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732520" y="2926080"/>
            <a:ext cx="27889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05672" y="3044952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商家运营需要效率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5800" y="3511296"/>
            <a:ext cx="219456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" y="363016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修改库存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880360" y="3511296"/>
            <a:ext cx="292608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53512" y="3630168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即时生效并留流水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806440" y="3511296"/>
            <a:ext cx="292608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9592" y="3630168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并发时校验可售库存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732520" y="3511296"/>
            <a:ext cx="278892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05672" y="3630168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库存是高频操作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5800" y="4096512"/>
            <a:ext cx="21945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4215384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修改规格内容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80360" y="4096512"/>
            <a:ext cx="29260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53512" y="421538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重新审核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806440" y="4096512"/>
            <a:ext cx="29260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79592" y="421538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通过前不影响线上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732520" y="4096512"/>
            <a:ext cx="27889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05672" y="4215384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防止绕过商品内容审核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商品审核策略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61972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619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需要审核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85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标题、主图、详情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类目/SPU 关联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服务承诺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新增/删除/改名规格内容、规格图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61972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619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即时生效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85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价格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库存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上下架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但必须留操作日志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488436"/>
            <a:ext cx="5202936" cy="2061972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88436"/>
            <a:ext cx="73152" cy="20619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3474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审核原因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63924"/>
            <a:ext cx="4892040" cy="1485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防违规内容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防错挂类目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防商家用规格名绕过标题/详情审核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3488436"/>
            <a:ext cx="5202936" cy="2061972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88436"/>
            <a:ext cx="73152" cy="206197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3474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日志要求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63924"/>
            <a:ext cx="4892040" cy="14859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谁改了什么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改前/改后值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生效时间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审核记录与驳回原因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跨店订单与支付批次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用户一次支付，系统多店铺订单。关键是不要把跨店聚合暴露成商家的订单。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跨店订单与支付批次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跨店一次支付模型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36"/>
                </a:solidFill>
              </a:rPr>
              <a:t>用户购物车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2286000" cy="2468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600200"/>
            <a:ext cx="73152" cy="246888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746504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购物车勾选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075688"/>
            <a:ext cx="1975104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A：T 恤、帽子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B：鞋子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一次提交订单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566160" y="1645920"/>
            <a:ext cx="2282952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773936"/>
            <a:ext cx="206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675888" y="2066544"/>
            <a:ext cx="2063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一次支付总额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跨店聚合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830824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13704" y="1645920"/>
            <a:ext cx="22829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3432" y="1773936"/>
            <a:ext cx="206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123432" y="2066544"/>
            <a:ext cx="2063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A 订单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一次发货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8278368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61248" y="1645920"/>
            <a:ext cx="22829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0976" y="1773936"/>
            <a:ext cx="206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B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570976" y="2066544"/>
            <a:ext cx="2063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 B 订单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一次发货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251960" y="3657600"/>
            <a:ext cx="1932432" cy="777240"/>
          </a:xfrm>
          <a:prstGeom prst="roundRect">
            <a:avLst>
              <a:gd name="adj" fmla="val 7059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61688" y="3785616"/>
            <a:ext cx="171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A1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361688" y="4078224"/>
            <a:ext cx="171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恤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166104" y="3945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48984" y="3657600"/>
            <a:ext cx="1932432" cy="777240"/>
          </a:xfrm>
          <a:prstGeom prst="roundRect">
            <a:avLst>
              <a:gd name="adj" fmla="val 7059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58712" y="3785616"/>
            <a:ext cx="171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A2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58712" y="4078224"/>
            <a:ext cx="171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帽子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8263128" y="3945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46008" y="3657600"/>
            <a:ext cx="1932432" cy="777240"/>
          </a:xfrm>
          <a:prstGeom prst="roundRect">
            <a:avLst>
              <a:gd name="adj" fmla="val 7059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55736" y="3785616"/>
            <a:ext cx="171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B1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8555736" y="4078224"/>
            <a:ext cx="1712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鞋子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731520" y="4846320"/>
            <a:ext cx="10789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846320"/>
            <a:ext cx="73152" cy="6858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992624"/>
            <a:ext cx="10479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" y="5321808"/>
            <a:ext cx="104790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用户端可以有“一次支付”的体验；商家端只处理本店 shop_order；平台端通过 payment_batch 串起支付和对账。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的作用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记录一次付款动作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总金额、支付渠道、支付场景、支付状态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用户这次到底付了什么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关联多笔店铺订单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1 - n shop_order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支付成功后批量回写订单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承接渠道回调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渠道回调先命中 payment_order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再回到 payment_batch 找到业务订单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服务平台查账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用户说“我付了一笔钱”时，平台查 payment_batch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可下钻到每个店铺订单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的履约边界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店铺维度主订单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商家端看到的订单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平台订单中心默认运营对象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一次发货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首版一个 shop_order 一次发货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不做部分发货、多包裹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售后聚合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订单层看售后中/部分售后/售后完成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明细层处理具体商品和数量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分账单位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 T+7 后进入可分账池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shop_order 计算商家应得</a:t>
            </a:r>
            <a:endParaRPr lang="en-US" sz="9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的明细边界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商品快照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SPU/Item/SKU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商品标题、规格、图片、单价、数量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金额分摊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商家优惠、平台优惠、运费、实付金额分摊到明细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后续退款和分账可追溯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部分数量退款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purchasedQuantity、refundedQuantity、refundableQuantity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不拆新明细行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评价粒度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确认收货后可评价 order_item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店铺评分由商品评价聚合形成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用户端订单展示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2516886" cy="1143000"/>
          </a:xfrm>
          <a:prstGeom prst="roundRect">
            <a:avLst>
              <a:gd name="adj" fmla="val 4800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支付成功页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86968" y="1655064"/>
            <a:ext cx="22974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一次支付成功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列出多个店铺订单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275838" y="17053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8718" y="1234440"/>
            <a:ext cx="2516886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8446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订单列表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68446" y="1655064"/>
            <a:ext cx="22974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shop_order 展示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用户看到多个订单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957316" y="17053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196" y="1234440"/>
            <a:ext cx="2516886" cy="1143000"/>
          </a:xfrm>
          <a:prstGeom prst="roundRect">
            <a:avLst>
              <a:gd name="adj" fmla="val 48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9924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订单详情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249924" y="1655064"/>
            <a:ext cx="22974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进入某个店铺订单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查看发货/售后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638794" y="17053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1674" y="1234440"/>
            <a:ext cx="2516886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1402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售后入口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931402" y="1655064"/>
            <a:ext cx="229743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order_item/数量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发起退款退货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" y="3246120"/>
            <a:ext cx="506577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246120"/>
            <a:ext cx="73152" cy="18288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33924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不要展示的内部词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5568" y="3721608"/>
            <a:ext cx="475488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不建议对用户暴露 payment_batch 这个技术名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可叫“支付记录/合并支付”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181344" y="3246120"/>
            <a:ext cx="506577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3246120"/>
            <a:ext cx="73152" cy="18288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3924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必须可查的信息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82512" y="3721608"/>
            <a:ext cx="475488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支付总金额、每个店铺订单金额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每个订单的发货/售后/退款状态</a:t>
            </a:r>
            <a:endParaRPr lang="en-US" sz="8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商家端与平台端视图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07008"/>
            <a:ext cx="2011680" cy="57607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325880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743200" y="1207008"/>
            <a:ext cx="4343400" cy="57607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25880"/>
            <a:ext cx="4197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086600" y="1207008"/>
            <a:ext cx="4389120" cy="57607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325880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731520" y="1783080"/>
            <a:ext cx="2011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901952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订单列表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0" y="1783080"/>
            <a:ext cx="434340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1901952"/>
            <a:ext cx="4197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只展示本店 shop_order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086600" y="1783080"/>
            <a:ext cx="43891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1901952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默认展示全平台 shop_order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31520" y="2359152"/>
            <a:ext cx="2011680" cy="57607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478024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支付批次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743200" y="2359152"/>
            <a:ext cx="4343400" cy="57607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478024"/>
            <a:ext cx="4197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不展示跨店支付全貌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086600" y="2359152"/>
            <a:ext cx="4389120" cy="57607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2478024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可查询 payment_batch 和渠道交易号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31520" y="2935224"/>
            <a:ext cx="2011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054096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743200" y="2935224"/>
            <a:ext cx="434340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3054096"/>
            <a:ext cx="4197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录快递公司和单号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086600" y="2935224"/>
            <a:ext cx="43891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3054096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监控待发货、超时发货、商家取消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31520" y="3511296"/>
            <a:ext cx="2011680" cy="57607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3630168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743200" y="3511296"/>
            <a:ext cx="4343400" cy="57607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16352" y="3630168"/>
            <a:ext cx="4197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处理本店售后申请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7086600" y="3511296"/>
            <a:ext cx="4389120" cy="57607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9752" y="3630168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争议介入、超时规则、责任归因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31520" y="4087368"/>
            <a:ext cx="201168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4206240"/>
            <a:ext cx="1865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743200" y="4087368"/>
            <a:ext cx="434340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6352" y="4206240"/>
            <a:ext cx="4197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看本店分账明细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7086600" y="4087368"/>
            <a:ext cx="43891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9752" y="4206240"/>
            <a:ext cx="4242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看支付、退款、分账、补贴、对账差异</a:t>
            </a:r>
            <a:endParaRPr lang="en-US" sz="7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订单状态模型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4315968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多状态字段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3090672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orderStatus：订单主生命周期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payStatus：支付状态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shipStatus：发货/收货状态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aftersaleStatus：售后聚合状态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profitShareStatus：分账状态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closeReason：关闭原因</a:t>
            </a:r>
            <a:endParaRPr lang="en-US" sz="815" dirty="0"/>
          </a:p>
        </p:txBody>
      </p:sp>
      <p:sp>
        <p:nvSpPr>
          <p:cNvPr id="12" name="Shape 10"/>
          <p:cNvSpPr/>
          <p:nvPr/>
        </p:nvSpPr>
        <p:spPr>
          <a:xfrm>
            <a:off x="4379976" y="1207008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9976" y="1207008"/>
            <a:ext cx="73152" cy="4315968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135331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 明细状态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4581144" y="1682496"/>
            <a:ext cx="3090672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aftersaleStatus：售后申请/处理中/完成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refundStatus：未退/部分退/已退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reviewStatus：未评价/已评价</a:t>
            </a:r>
            <a:endParaRPr lang="en-US" sz="815" dirty="0"/>
          </a:p>
        </p:txBody>
      </p:sp>
      <p:sp>
        <p:nvSpPr>
          <p:cNvPr id="16" name="Shape 14"/>
          <p:cNvSpPr/>
          <p:nvPr/>
        </p:nvSpPr>
        <p:spPr>
          <a:xfrm>
            <a:off x="7982712" y="1207008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82712" y="1207008"/>
            <a:ext cx="73152" cy="4315968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35331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为什么拆开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8183880" y="1682496"/>
            <a:ext cx="3090672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已支付但未发货、已发货但售后中、已确认但待分账等组合状态很多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多字段避免单一 status 爆炸</a:t>
            </a:r>
            <a:endParaRPr lang="en-US" sz="81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订单取消与异常规则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订单设计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170432"/>
            <a:ext cx="219456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28930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735" dirty="0"/>
          </a:p>
        </p:txBody>
      </p:sp>
      <p:sp>
        <p:nvSpPr>
          <p:cNvPr id="10" name="Shape 8"/>
          <p:cNvSpPr/>
          <p:nvPr/>
        </p:nvSpPr>
        <p:spPr>
          <a:xfrm>
            <a:off x="2907792" y="1170432"/>
            <a:ext cx="297180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1289304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735" dirty="0"/>
          </a:p>
        </p:txBody>
      </p:sp>
      <p:sp>
        <p:nvSpPr>
          <p:cNvPr id="12" name="Shape 10"/>
          <p:cNvSpPr/>
          <p:nvPr/>
        </p:nvSpPr>
        <p:spPr>
          <a:xfrm>
            <a:off x="5879592" y="1170432"/>
            <a:ext cx="297180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52744" y="1289304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库存/资金</a:t>
            </a:r>
            <a:endParaRPr lang="en-US" sz="735" dirty="0"/>
          </a:p>
        </p:txBody>
      </p:sp>
      <p:sp>
        <p:nvSpPr>
          <p:cNvPr id="14" name="Shape 12"/>
          <p:cNvSpPr/>
          <p:nvPr/>
        </p:nvSpPr>
        <p:spPr>
          <a:xfrm>
            <a:off x="8851392" y="1170432"/>
            <a:ext cx="26974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4544" y="128930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关闭原因</a:t>
            </a:r>
            <a:endParaRPr lang="en-US" sz="735" dirty="0"/>
          </a:p>
        </p:txBody>
      </p:sp>
      <p:sp>
        <p:nvSpPr>
          <p:cNvPr id="16" name="Shape 14"/>
          <p:cNvSpPr/>
          <p:nvPr/>
        </p:nvSpPr>
        <p:spPr>
          <a:xfrm>
            <a:off x="713232" y="1737360"/>
            <a:ext cx="2194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185623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待支付用户取消</a:t>
            </a:r>
            <a:endParaRPr lang="en-US" sz="735" dirty="0"/>
          </a:p>
        </p:txBody>
      </p:sp>
      <p:sp>
        <p:nvSpPr>
          <p:cNvPr id="18" name="Shape 16"/>
          <p:cNvSpPr/>
          <p:nvPr/>
        </p:nvSpPr>
        <p:spPr>
          <a:xfrm>
            <a:off x="2907792" y="1737360"/>
            <a:ext cx="2971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1856232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用户可直接取消</a:t>
            </a:r>
            <a:endParaRPr lang="en-US" sz="735" dirty="0"/>
          </a:p>
        </p:txBody>
      </p:sp>
      <p:sp>
        <p:nvSpPr>
          <p:cNvPr id="20" name="Shape 18"/>
          <p:cNvSpPr/>
          <p:nvPr/>
        </p:nvSpPr>
        <p:spPr>
          <a:xfrm>
            <a:off x="5879592" y="1737360"/>
            <a:ext cx="2971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2744" y="1856232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释放锁定库存，关闭支付尝试</a:t>
            </a:r>
            <a:endParaRPr lang="en-US" sz="735" dirty="0"/>
          </a:p>
        </p:txBody>
      </p:sp>
      <p:sp>
        <p:nvSpPr>
          <p:cNvPr id="22" name="Shape 20"/>
          <p:cNvSpPr/>
          <p:nvPr/>
        </p:nvSpPr>
        <p:spPr>
          <a:xfrm>
            <a:off x="8851392" y="1737360"/>
            <a:ext cx="26974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24544" y="1856232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USER_CANCEL</a:t>
            </a:r>
            <a:endParaRPr lang="en-US" sz="735" dirty="0"/>
          </a:p>
        </p:txBody>
      </p:sp>
      <p:sp>
        <p:nvSpPr>
          <p:cNvPr id="24" name="Shape 22"/>
          <p:cNvSpPr/>
          <p:nvPr/>
        </p:nvSpPr>
        <p:spPr>
          <a:xfrm>
            <a:off x="713232" y="2304288"/>
            <a:ext cx="219456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24231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分钟未支付</a:t>
            </a:r>
            <a:endParaRPr lang="en-US" sz="735" dirty="0"/>
          </a:p>
        </p:txBody>
      </p:sp>
      <p:sp>
        <p:nvSpPr>
          <p:cNvPr id="26" name="Shape 24"/>
          <p:cNvSpPr/>
          <p:nvPr/>
        </p:nvSpPr>
        <p:spPr>
          <a:xfrm>
            <a:off x="2907792" y="2304288"/>
            <a:ext cx="297180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2423160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系统自动关闭</a:t>
            </a:r>
            <a:endParaRPr lang="en-US" sz="735" dirty="0"/>
          </a:p>
        </p:txBody>
      </p:sp>
      <p:sp>
        <p:nvSpPr>
          <p:cNvPr id="28" name="Shape 26"/>
          <p:cNvSpPr/>
          <p:nvPr/>
        </p:nvSpPr>
        <p:spPr>
          <a:xfrm>
            <a:off x="5879592" y="2304288"/>
            <a:ext cx="297180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52744" y="2423160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释放锁定库存，关闭 payment_batch</a:t>
            </a:r>
            <a:endParaRPr lang="en-US" sz="735" dirty="0"/>
          </a:p>
        </p:txBody>
      </p:sp>
      <p:sp>
        <p:nvSpPr>
          <p:cNvPr id="30" name="Shape 28"/>
          <p:cNvSpPr/>
          <p:nvPr/>
        </p:nvSpPr>
        <p:spPr>
          <a:xfrm>
            <a:off x="8851392" y="2304288"/>
            <a:ext cx="26974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24544" y="2423160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PAY_TIMEOUT</a:t>
            </a:r>
            <a:endParaRPr lang="en-US" sz="735" dirty="0"/>
          </a:p>
        </p:txBody>
      </p:sp>
      <p:sp>
        <p:nvSpPr>
          <p:cNvPr id="32" name="Shape 30"/>
          <p:cNvSpPr/>
          <p:nvPr/>
        </p:nvSpPr>
        <p:spPr>
          <a:xfrm>
            <a:off x="713232" y="2871216"/>
            <a:ext cx="2194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2990088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已付未发取消</a:t>
            </a:r>
            <a:endParaRPr lang="en-US" sz="735" dirty="0"/>
          </a:p>
        </p:txBody>
      </p:sp>
      <p:sp>
        <p:nvSpPr>
          <p:cNvPr id="34" name="Shape 32"/>
          <p:cNvSpPr/>
          <p:nvPr/>
        </p:nvSpPr>
        <p:spPr>
          <a:xfrm>
            <a:off x="2907792" y="2871216"/>
            <a:ext cx="2971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80944" y="29900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用户申请自动退款</a:t>
            </a:r>
            <a:endParaRPr lang="en-US" sz="735" dirty="0"/>
          </a:p>
        </p:txBody>
      </p:sp>
      <p:sp>
        <p:nvSpPr>
          <p:cNvPr id="36" name="Shape 34"/>
          <p:cNvSpPr/>
          <p:nvPr/>
        </p:nvSpPr>
        <p:spPr>
          <a:xfrm>
            <a:off x="5879592" y="2871216"/>
            <a:ext cx="2971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52744" y="2990088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退款成功后释放/回补库存</a:t>
            </a:r>
            <a:endParaRPr lang="en-US" sz="735" dirty="0"/>
          </a:p>
        </p:txBody>
      </p:sp>
      <p:sp>
        <p:nvSpPr>
          <p:cNvPr id="38" name="Shape 36"/>
          <p:cNvSpPr/>
          <p:nvPr/>
        </p:nvSpPr>
        <p:spPr>
          <a:xfrm>
            <a:off x="8851392" y="2871216"/>
            <a:ext cx="26974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24544" y="2990088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PAID_UNSHIPPED_REFUND</a:t>
            </a:r>
            <a:endParaRPr lang="en-US" sz="735" dirty="0"/>
          </a:p>
        </p:txBody>
      </p:sp>
      <p:sp>
        <p:nvSpPr>
          <p:cNvPr id="40" name="Shape 38"/>
          <p:cNvSpPr/>
          <p:nvPr/>
        </p:nvSpPr>
        <p:spPr>
          <a:xfrm>
            <a:off x="713232" y="3438144"/>
            <a:ext cx="219456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355701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商家缺货取消</a:t>
            </a:r>
            <a:endParaRPr lang="en-US" sz="735" dirty="0"/>
          </a:p>
        </p:txBody>
      </p:sp>
      <p:sp>
        <p:nvSpPr>
          <p:cNvPr id="42" name="Shape 40"/>
          <p:cNvSpPr/>
          <p:nvPr/>
        </p:nvSpPr>
        <p:spPr>
          <a:xfrm>
            <a:off x="2907792" y="3438144"/>
            <a:ext cx="297180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80944" y="3557016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商家申请，系统退款并留责任原因</a:t>
            </a:r>
            <a:endParaRPr lang="en-US" sz="735" dirty="0"/>
          </a:p>
        </p:txBody>
      </p:sp>
      <p:sp>
        <p:nvSpPr>
          <p:cNvPr id="44" name="Shape 42"/>
          <p:cNvSpPr/>
          <p:nvPr/>
        </p:nvSpPr>
        <p:spPr>
          <a:xfrm>
            <a:off x="5879592" y="3438144"/>
            <a:ext cx="297180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52744" y="3557016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记录商家治理数据</a:t>
            </a:r>
            <a:endParaRPr lang="en-US" sz="735" dirty="0"/>
          </a:p>
        </p:txBody>
      </p:sp>
      <p:sp>
        <p:nvSpPr>
          <p:cNvPr id="46" name="Shape 44"/>
          <p:cNvSpPr/>
          <p:nvPr/>
        </p:nvSpPr>
        <p:spPr>
          <a:xfrm>
            <a:off x="8851392" y="3438144"/>
            <a:ext cx="26974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24544" y="3557016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MERCHANT_CANCEL</a:t>
            </a:r>
            <a:endParaRPr lang="en-US" sz="735" dirty="0"/>
          </a:p>
        </p:txBody>
      </p:sp>
      <p:sp>
        <p:nvSpPr>
          <p:cNvPr id="48" name="Shape 46"/>
          <p:cNvSpPr/>
          <p:nvPr/>
        </p:nvSpPr>
        <p:spPr>
          <a:xfrm>
            <a:off x="713232" y="4005072"/>
            <a:ext cx="21945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" y="412394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超时后晚到支付</a:t>
            </a:r>
            <a:endParaRPr lang="en-US" sz="735" dirty="0"/>
          </a:p>
        </p:txBody>
      </p:sp>
      <p:sp>
        <p:nvSpPr>
          <p:cNvPr id="50" name="Shape 48"/>
          <p:cNvSpPr/>
          <p:nvPr/>
        </p:nvSpPr>
        <p:spPr>
          <a:xfrm>
            <a:off x="2907792" y="4005072"/>
            <a:ext cx="2971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80944" y="4123944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PAY_EXCEPTION，不自动恢复</a:t>
            </a:r>
            <a:endParaRPr lang="en-US" sz="735" dirty="0"/>
          </a:p>
        </p:txBody>
      </p:sp>
      <p:sp>
        <p:nvSpPr>
          <p:cNvPr id="52" name="Shape 50"/>
          <p:cNvSpPr/>
          <p:nvPr/>
        </p:nvSpPr>
        <p:spPr>
          <a:xfrm>
            <a:off x="5879592" y="4005072"/>
            <a:ext cx="2971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52744" y="4123944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优先退款或人工处理</a:t>
            </a:r>
            <a:endParaRPr lang="en-US" sz="735" dirty="0"/>
          </a:p>
        </p:txBody>
      </p:sp>
      <p:sp>
        <p:nvSpPr>
          <p:cNvPr id="54" name="Shape 52"/>
          <p:cNvSpPr/>
          <p:nvPr/>
        </p:nvSpPr>
        <p:spPr>
          <a:xfrm>
            <a:off x="8851392" y="4005072"/>
            <a:ext cx="26974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4123944"/>
            <a:ext cx="2551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LATE_PAYMENT</a:t>
            </a:r>
            <a:endParaRPr lang="en-US" sz="73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支付、退款、分账与对账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资金链路是审核重点：一次支付、多次尝试、渠道冻结、后续分账、每日对账。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支付、退款、分账与对账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和 payment_order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86968" y="165506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业务支付批次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一次结算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275838" y="1682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8718" y="123444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8446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1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68446" y="165506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微信尝试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可能关闭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957316" y="1682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196" y="123444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9924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2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249924" y="165506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支付宝尝试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可能成功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638794" y="1682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1674" y="123444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1402" y="136245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渠道回调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931402" y="165506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命中支付尝试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回写批次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868680" y="3154680"/>
            <a:ext cx="33253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330098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9848" y="3630168"/>
            <a:ext cx="301447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1 - n payment_order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同一支付批次切换渠道时关闭旧尝试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395216" y="3154680"/>
            <a:ext cx="33253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95216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6384" y="330098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复用现有支付域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96384" y="3630168"/>
            <a:ext cx="301447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payment_order.biz_type = MALL_PAYMENT_BATCH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payment_order.biz_order_id = payment_batch.id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921752" y="3154680"/>
            <a:ext cx="33253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21752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22920" y="330098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22920" y="3630168"/>
            <a:ext cx="3014472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支付用 payment_order_no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渠道重试必须使用同一本地业务单号</a:t>
            </a:r>
            <a:endParaRPr lang="en-US" sz="8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多端支付渠道矩阵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1234440"/>
            <a:ext cx="201168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5331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2761488" y="1234440"/>
            <a:ext cx="283464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353312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微信支付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5596128" y="1234440"/>
            <a:ext cx="283464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353312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支付宝支付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8430768" y="1234440"/>
            <a:ext cx="2971800" cy="65836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353312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策略说明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749808" y="1892808"/>
            <a:ext cx="2011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01168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2761488" y="1892808"/>
            <a:ext cx="28346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011680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小程序支付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5596128" y="1892808"/>
            <a:ext cx="28346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011680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不在小程序内提供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8430768" y="1892808"/>
            <a:ext cx="2971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011680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只展示微信支付，避免不可执行体验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749808" y="2551176"/>
            <a:ext cx="20116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67004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Web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2761488" y="2551176"/>
            <a:ext cx="283464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0" y="2670048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Native/扫码支付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5596128" y="2551176"/>
            <a:ext cx="283464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670048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扫码/网页支付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430768" y="2551176"/>
            <a:ext cx="297180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2670048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统一收银台展示二维码</a:t>
            </a:r>
            <a:endParaRPr lang="en-US" sz="790" dirty="0"/>
          </a:p>
        </p:txBody>
      </p:sp>
      <p:sp>
        <p:nvSpPr>
          <p:cNvPr id="32" name="Shape 30"/>
          <p:cNvSpPr/>
          <p:nvPr/>
        </p:nvSpPr>
        <p:spPr>
          <a:xfrm>
            <a:off x="749808" y="3209544"/>
            <a:ext cx="201168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32841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 H5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2761488" y="3209544"/>
            <a:ext cx="28346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32841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 H5/JSAPI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5596128" y="3209544"/>
            <a:ext cx="28346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2841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 WAP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8430768" y="3209544"/>
            <a:ext cx="2971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3328416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根据浏览器环境选择唤起方式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749808" y="3867912"/>
            <a:ext cx="201168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98678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 App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2761488" y="3867912"/>
            <a:ext cx="283464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3986784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支付 SDK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5596128" y="3867912"/>
            <a:ext cx="283464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3986784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支付 SDK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8430768" y="3867912"/>
            <a:ext cx="2971800" cy="65836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3986784"/>
            <a:ext cx="2825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当前不作为首版移动端重点</a:t>
            </a:r>
            <a:endParaRPr lang="en-US" sz="79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支付状态流转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2053742" cy="1051560"/>
          </a:xfrm>
          <a:prstGeom prst="roundRect">
            <a:avLst>
              <a:gd name="adj" fmla="val 5217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62456"/>
            <a:ext cx="1834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49808" y="1655064"/>
            <a:ext cx="183428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批次已创建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675534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58414" y="1234440"/>
            <a:ext cx="205374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8142" y="1362456"/>
            <a:ext cx="1834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PAYING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968142" y="1655064"/>
            <a:ext cx="183428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已创建渠道支付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893869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6749" y="1234440"/>
            <a:ext cx="2053742" cy="1051560"/>
          </a:xfrm>
          <a:prstGeom prst="roundRect">
            <a:avLst>
              <a:gd name="adj" fmla="val 5217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6477" y="1362456"/>
            <a:ext cx="1834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186477" y="1655064"/>
            <a:ext cx="183428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渠道成功回调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112203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95083" y="1234440"/>
            <a:ext cx="205374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4811" y="1362456"/>
            <a:ext cx="1834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CLOSED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404811" y="1655064"/>
            <a:ext cx="183428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取消/超时关闭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330538" y="16596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13418" y="1234440"/>
            <a:ext cx="2053742" cy="1051560"/>
          </a:xfrm>
          <a:prstGeom prst="roundRect">
            <a:avLst>
              <a:gd name="adj" fmla="val 5217"/>
            </a:avLst>
          </a:prstGeom>
          <a:solidFill>
            <a:srgbClr val="F7E4E1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3146" y="1362456"/>
            <a:ext cx="1834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PAY_EXCEPTION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623146" y="1655064"/>
            <a:ext cx="183428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晚到回调/金额异常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4672" y="3108960"/>
            <a:ext cx="34168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3108960"/>
            <a:ext cx="73152" cy="2148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25526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正常成功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3584448"/>
            <a:ext cx="310591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SUCCESS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PAID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 进入 PAID/WAIT_SHIP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库存从锁定转为已售占用</a:t>
            </a:r>
            <a:endParaRPr lang="en-US" sz="815" dirty="0"/>
          </a:p>
        </p:txBody>
      </p:sp>
      <p:sp>
        <p:nvSpPr>
          <p:cNvPr id="31" name="Shape 29"/>
          <p:cNvSpPr/>
          <p:nvPr/>
        </p:nvSpPr>
        <p:spPr>
          <a:xfrm>
            <a:off x="4422648" y="3108960"/>
            <a:ext cx="34168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22648" y="3108960"/>
            <a:ext cx="73152" cy="2148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3816" y="325526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正常关闭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23816" y="3584448"/>
            <a:ext cx="310591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分钟未支付或用户取消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 payment_batch/payment_order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释放锁定库存</a:t>
            </a:r>
            <a:endParaRPr lang="en-US" sz="815" dirty="0"/>
          </a:p>
        </p:txBody>
      </p:sp>
      <p:sp>
        <p:nvSpPr>
          <p:cNvPr id="35" name="Shape 33"/>
          <p:cNvSpPr/>
          <p:nvPr/>
        </p:nvSpPr>
        <p:spPr>
          <a:xfrm>
            <a:off x="8040624" y="3108960"/>
            <a:ext cx="34168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0624" y="3108960"/>
            <a:ext cx="73152" cy="214884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1792" y="325526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异常晚到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41792" y="3584448"/>
            <a:ext cx="3105912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本地已关闭后渠道成功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不自动恢复订单</a:t>
            </a:r>
            <a:endParaRPr lang="en-US" sz="815" dirty="0"/>
          </a:p>
          <a:p>
            <a:pPr indent="0" marL="0">
              <a:buNone/>
            </a:pPr>
            <a:r>
              <a:rPr lang="en-US" sz="815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生成支付异常，优先退款或人工处理</a:t>
            </a:r>
            <a:endParaRPr lang="en-US" sz="81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支付渠道抽象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PaymentChannelGateway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createPayment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parseNotify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queryPayment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closePayment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requestRefund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微信适配器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小程序支付、PC 扫码、H5/JSAPI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电商收付通、分账标识、交易账单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支付宝适配器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PC/WAP/App 支付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直付通、交易结算分账、支付宝账单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业务层约束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不直接依赖微信/支付宝 SDK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只保存 channel、scene、channel_trade_no、raw_notify</a:t>
            </a:r>
            <a:endParaRPr lang="en-US" sz="8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支付冻结后分账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用户支付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12648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14372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97252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6980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渠道冻结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506980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待分账资金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不立即给商家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08704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1584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1312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商家履约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401312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03036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5916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5644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T+7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95644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售后保护期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无未完结售后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897368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80248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9976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发起分账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8189976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商家应得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平台佣金/补贴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791700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74580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4308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完结/解冻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0084308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分账完成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释放剩余资金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04672" y="3154680"/>
            <a:ext cx="34168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" y="3154680"/>
            <a:ext cx="73152" cy="19659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30098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分账触发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3630168"/>
            <a:ext cx="310591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定时扫描可分账订单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事件只做加速补充，防止事件丢失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4422648" y="3154680"/>
            <a:ext cx="34168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22648" y="3154680"/>
            <a:ext cx="73152" cy="19659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3816" y="330098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分账失败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23816" y="3630168"/>
            <a:ext cx="310591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超过次数进入平台人工处理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8040624" y="3154680"/>
            <a:ext cx="341680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0624" y="3154680"/>
            <a:ext cx="73152" cy="19659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1792" y="3300984"/>
            <a:ext cx="310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完结要求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41792" y="3630168"/>
            <a:ext cx="310591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分账成功且无剩余待分金额后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主动调用渠道分账完结/解冻接口</a:t>
            </a:r>
            <a:endParaRPr lang="en-US" sz="81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退款与分账的关系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1234440"/>
            <a:ext cx="2194560" cy="694944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5331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785" dirty="0"/>
          </a:p>
        </p:txBody>
      </p:sp>
      <p:sp>
        <p:nvSpPr>
          <p:cNvPr id="10" name="Shape 8"/>
          <p:cNvSpPr/>
          <p:nvPr/>
        </p:nvSpPr>
        <p:spPr>
          <a:xfrm>
            <a:off x="2944368" y="1234440"/>
            <a:ext cx="3108960" cy="694944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353312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退款处理</a:t>
            </a:r>
            <a:endParaRPr lang="en-US" sz="785" dirty="0"/>
          </a:p>
        </p:txBody>
      </p:sp>
      <p:sp>
        <p:nvSpPr>
          <p:cNvPr id="12" name="Shape 10"/>
          <p:cNvSpPr/>
          <p:nvPr/>
        </p:nvSpPr>
        <p:spPr>
          <a:xfrm>
            <a:off x="6053328" y="1234440"/>
            <a:ext cx="2926080" cy="694944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53312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分账处理</a:t>
            </a:r>
            <a:endParaRPr lang="en-US" sz="785" dirty="0"/>
          </a:p>
        </p:txBody>
      </p:sp>
      <p:sp>
        <p:nvSpPr>
          <p:cNvPr id="14" name="Shape 12"/>
          <p:cNvSpPr/>
          <p:nvPr/>
        </p:nvSpPr>
        <p:spPr>
          <a:xfrm>
            <a:off x="8979408" y="1234440"/>
            <a:ext cx="2423160" cy="694944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35331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系统限制</a:t>
            </a:r>
            <a:endParaRPr lang="en-US" sz="785" dirty="0"/>
          </a:p>
        </p:txBody>
      </p:sp>
      <p:sp>
        <p:nvSpPr>
          <p:cNvPr id="16" name="Shape 14"/>
          <p:cNvSpPr/>
          <p:nvPr/>
        </p:nvSpPr>
        <p:spPr>
          <a:xfrm>
            <a:off x="749808" y="1929384"/>
            <a:ext cx="21945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048256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未分账</a:t>
            </a:r>
            <a:endParaRPr lang="en-US" sz="785" dirty="0"/>
          </a:p>
        </p:txBody>
      </p:sp>
      <p:sp>
        <p:nvSpPr>
          <p:cNvPr id="18" name="Shape 16"/>
          <p:cNvSpPr/>
          <p:nvPr/>
        </p:nvSpPr>
        <p:spPr>
          <a:xfrm>
            <a:off x="2944368" y="1929384"/>
            <a:ext cx="31089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048256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从渠道冻结/待分账资金退款</a:t>
            </a:r>
            <a:endParaRPr lang="en-US" sz="785" dirty="0"/>
          </a:p>
        </p:txBody>
      </p:sp>
      <p:sp>
        <p:nvSpPr>
          <p:cNvPr id="20" name="Shape 18"/>
          <p:cNvSpPr/>
          <p:nvPr/>
        </p:nvSpPr>
        <p:spPr>
          <a:xfrm>
            <a:off x="6053328" y="1929384"/>
            <a:ext cx="292608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048256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减少可分账金额</a:t>
            </a:r>
            <a:endParaRPr lang="en-US" sz="785" dirty="0"/>
          </a:p>
        </p:txBody>
      </p:sp>
      <p:sp>
        <p:nvSpPr>
          <p:cNvPr id="22" name="Shape 20"/>
          <p:cNvSpPr/>
          <p:nvPr/>
        </p:nvSpPr>
        <p:spPr>
          <a:xfrm>
            <a:off x="8979408" y="1929384"/>
            <a:ext cx="24231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0482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售后中订单不进分账池</a:t>
            </a:r>
            <a:endParaRPr lang="en-US" sz="785" dirty="0"/>
          </a:p>
        </p:txBody>
      </p:sp>
      <p:sp>
        <p:nvSpPr>
          <p:cNvPr id="24" name="Shape 22"/>
          <p:cNvSpPr/>
          <p:nvPr/>
        </p:nvSpPr>
        <p:spPr>
          <a:xfrm>
            <a:off x="749808" y="2624328"/>
            <a:ext cx="219456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74320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分账中</a:t>
            </a:r>
            <a:endParaRPr lang="en-US" sz="785" dirty="0"/>
          </a:p>
        </p:txBody>
      </p:sp>
      <p:sp>
        <p:nvSpPr>
          <p:cNvPr id="26" name="Shape 24"/>
          <p:cNvSpPr/>
          <p:nvPr/>
        </p:nvSpPr>
        <p:spPr>
          <a:xfrm>
            <a:off x="2944368" y="2624328"/>
            <a:ext cx="310896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74320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先等待或中断分账，视渠道能力处理</a:t>
            </a:r>
            <a:endParaRPr lang="en-US" sz="785" dirty="0"/>
          </a:p>
        </p:txBody>
      </p:sp>
      <p:sp>
        <p:nvSpPr>
          <p:cNvPr id="28" name="Shape 26"/>
          <p:cNvSpPr/>
          <p:nvPr/>
        </p:nvSpPr>
        <p:spPr>
          <a:xfrm>
            <a:off x="6053328" y="2624328"/>
            <a:ext cx="292608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74320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标记风险并暂停完结</a:t>
            </a:r>
            <a:endParaRPr lang="en-US" sz="785" dirty="0"/>
          </a:p>
        </p:txBody>
      </p:sp>
      <p:sp>
        <p:nvSpPr>
          <p:cNvPr id="30" name="Shape 28"/>
          <p:cNvSpPr/>
          <p:nvPr/>
        </p:nvSpPr>
        <p:spPr>
          <a:xfrm>
            <a:off x="8979408" y="2624328"/>
            <a:ext cx="242316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2743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避免边退边分</a:t>
            </a:r>
            <a:endParaRPr lang="en-US" sz="785" dirty="0"/>
          </a:p>
        </p:txBody>
      </p:sp>
      <p:sp>
        <p:nvSpPr>
          <p:cNvPr id="32" name="Shape 30"/>
          <p:cNvSpPr/>
          <p:nvPr/>
        </p:nvSpPr>
        <p:spPr>
          <a:xfrm>
            <a:off x="749808" y="3319272"/>
            <a:ext cx="21945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43814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已分账</a:t>
            </a:r>
            <a:endParaRPr lang="en-US" sz="785" dirty="0"/>
          </a:p>
        </p:txBody>
      </p:sp>
      <p:sp>
        <p:nvSpPr>
          <p:cNvPr id="34" name="Shape 32"/>
          <p:cNvSpPr/>
          <p:nvPr/>
        </p:nvSpPr>
        <p:spPr>
          <a:xfrm>
            <a:off x="2944368" y="3319272"/>
            <a:ext cx="31089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438144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先分账回退，再退款</a:t>
            </a:r>
            <a:endParaRPr lang="en-US" sz="785" dirty="0"/>
          </a:p>
        </p:txBody>
      </p:sp>
      <p:sp>
        <p:nvSpPr>
          <p:cNvPr id="36" name="Shape 34"/>
          <p:cNvSpPr/>
          <p:nvPr/>
        </p:nvSpPr>
        <p:spPr>
          <a:xfrm>
            <a:off x="6053328" y="3319272"/>
            <a:ext cx="292608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438144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生成回退单和退款单</a:t>
            </a:r>
            <a:endParaRPr lang="en-US" sz="785" dirty="0"/>
          </a:p>
        </p:txBody>
      </p:sp>
      <p:sp>
        <p:nvSpPr>
          <p:cNvPr id="38" name="Shape 36"/>
          <p:cNvSpPr/>
          <p:nvPr/>
        </p:nvSpPr>
        <p:spPr>
          <a:xfrm>
            <a:off x="8979408" y="3319272"/>
            <a:ext cx="2423160" cy="694944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343814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回退失败进人工处理</a:t>
            </a:r>
            <a:endParaRPr lang="en-US" sz="785" dirty="0"/>
          </a:p>
        </p:txBody>
      </p:sp>
      <p:sp>
        <p:nvSpPr>
          <p:cNvPr id="40" name="Shape 38"/>
          <p:cNvSpPr/>
          <p:nvPr/>
        </p:nvSpPr>
        <p:spPr>
          <a:xfrm>
            <a:off x="749808" y="4014216"/>
            <a:ext cx="219456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13308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部分退款</a:t>
            </a:r>
            <a:endParaRPr lang="en-US" sz="785" dirty="0"/>
          </a:p>
        </p:txBody>
      </p:sp>
      <p:sp>
        <p:nvSpPr>
          <p:cNvPr id="42" name="Shape 40"/>
          <p:cNvSpPr/>
          <p:nvPr/>
        </p:nvSpPr>
        <p:spPr>
          <a:xfrm>
            <a:off x="2944368" y="4014216"/>
            <a:ext cx="310896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413308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order_item 数量和金额退款</a:t>
            </a:r>
            <a:endParaRPr lang="en-US" sz="785" dirty="0"/>
          </a:p>
        </p:txBody>
      </p:sp>
      <p:sp>
        <p:nvSpPr>
          <p:cNvPr id="44" name="Shape 42"/>
          <p:cNvSpPr/>
          <p:nvPr/>
        </p:nvSpPr>
        <p:spPr>
          <a:xfrm>
            <a:off x="6053328" y="4014216"/>
            <a:ext cx="292608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133088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按剩余可分金额重新计算</a:t>
            </a:r>
            <a:endParaRPr lang="en-US" sz="785" dirty="0"/>
          </a:p>
        </p:txBody>
      </p:sp>
      <p:sp>
        <p:nvSpPr>
          <p:cNvPr id="46" name="Shape 44"/>
          <p:cNvSpPr/>
          <p:nvPr/>
        </p:nvSpPr>
        <p:spPr>
          <a:xfrm>
            <a:off x="8979408" y="4014216"/>
            <a:ext cx="2423160" cy="694944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4133088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不能超过可退数量/金额</a:t>
            </a:r>
            <a:endParaRPr lang="en-US" sz="78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佣金、补贴与手续费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佣金基数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商家实收基数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商品价扣除商家优惠后计佣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不含运费，不扣平台券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运费归属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商家自发货，运费给商家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运费不参与平台佣金计算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平台券补贴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平台券由平台承担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渠道实付不足部分进入 settlement_bill 平台补贴应付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渠道手续费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微信/支付宝手续费平台承担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作为平台成本入账，不从商家应得扣</a:t>
            </a:r>
            <a:endParaRPr lang="en-US" sz="91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每日对账：为什么必须做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支付漏单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渠道已支付，本地仍待支付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通常来自回调丢失或处理失败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退款不同步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本地退款成功，渠道未退款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或渠道成功，本地仍处理中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分账差异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本地分账成功，渠道失败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分账金额或接收方不一致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资金账差异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收款、退款、分账、手续费、补贴无法汇总一致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财务月结会暴雷</a:t>
            </a:r>
            <a:endParaRPr lang="en-US" sz="9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每日对账流程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资金财务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下载账单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12648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交易/退款/资金账单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14372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97252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6980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保存原始文件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506980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checksum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raw_storage_path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108704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1584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1312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解析统一记录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401312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channel_bill_record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003036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5916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5644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匹配本地账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95644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payment/refund/profit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7897368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80248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9976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生成差异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8189976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reconciliation_exception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9791700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74580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4308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修复/人工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0084308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安全自动修复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高风险人工处理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005840" y="3063240"/>
            <a:ext cx="228600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318211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异常类型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291840" y="3063240"/>
            <a:ext cx="384048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182112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可自动修复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7132320" y="3063240"/>
            <a:ext cx="4023360" cy="58521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3182112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需人工处理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1005840" y="3648456"/>
            <a:ext cx="22860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3767328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渠道成功本地待支付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3291840" y="3648456"/>
            <a:ext cx="38404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76732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订单仍 WAIT_PAY 且库存仍锁定时可自动补成功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7132320" y="3648456"/>
            <a:ext cx="40233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3767328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本地已关闭或库存已释放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1005840" y="4233672"/>
            <a:ext cx="228600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" y="4352544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退款状态不同步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3291840" y="4233672"/>
            <a:ext cx="384048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64992" y="4352544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渠道成功，本地 PROCESSING 可更新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7132320" y="4233672"/>
            <a:ext cx="4023360" cy="58521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4352544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金额不一致或超出可退金额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1005840" y="4818888"/>
            <a:ext cx="228600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992" y="493776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分账状态不同步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3291840" y="4818888"/>
            <a:ext cx="384048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493776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渠道成功，本地处理中可更新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7132320" y="4818888"/>
            <a:ext cx="402336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4937760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接收方/金额不一致</a:t>
            </a:r>
            <a:endParaRPr lang="en-US" sz="73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履约、售后与评价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首版压住复杂度：商家自发货、一个店铺订单一次发货，售后按商品明细和数量处理。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履约、售后与评价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履约售后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履约售后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配送方式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首版只支持快递配送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不做自提、同城、到店核销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发货粒度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shop_order 一次发货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不支持部分发货、多包裹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物流信息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商家录入快递公司和单号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 API 后续接入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改地址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已支付未发货时，买家可申请改地址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商家确认后生效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履约售后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履约售后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支持类型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未发货仅退款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已发货退货退款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支持按数量部分退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审核流程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商家先审核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商家超时自动同意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平台可介入争议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退货确认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用户寄回退货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物流签收后商家超时未处理自动退款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资金规则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分账前从冻结资金退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分账后先回退再退款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履约售后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确认收货与评价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履约售后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2044598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商家发货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95528" y="1655064"/>
            <a:ext cx="18251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shipStatus=SHIPPED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712110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94990" y="1234440"/>
            <a:ext cx="204459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4718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天自动确认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004718" y="1655064"/>
            <a:ext cx="18251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或买家主动确认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921301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4181" y="1234440"/>
            <a:ext cx="2044598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可评价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213909" y="1655064"/>
            <a:ext cx="18251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order_item 评价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130491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3371" y="1234440"/>
            <a:ext cx="204459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3099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T+7 可分账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423099" y="1655064"/>
            <a:ext cx="18251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无售后中订单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339682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22562" y="1234440"/>
            <a:ext cx="2044598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2290" y="136245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订单完成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632290" y="1655064"/>
            <a:ext cx="18251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分账完成后 COMPLETED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4400" y="3154680"/>
            <a:ext cx="506577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3300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评价首版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5568" y="3630168"/>
            <a:ext cx="47548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基础评价、商品评分、店铺评分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不做追评、晒图风控、复杂申诉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181344" y="3154680"/>
            <a:ext cx="506577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300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完成定义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82512" y="3630168"/>
            <a:ext cx="47548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用户体验上确认收货后可评价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财务口径上分账完成后订单 COMPLETED</a:t>
            </a:r>
            <a:endParaRPr lang="en-US" sz="8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状态机、金额规则与落地路径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把最终可以落表、落接口、落测试的硬规则收束到一起。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状态机、金额规则与落地路径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金额快照字段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1024128"/>
            <a:ext cx="2057400" cy="67665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143000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745" dirty="0"/>
          </a:p>
        </p:txBody>
      </p:sp>
      <p:sp>
        <p:nvSpPr>
          <p:cNvPr id="10" name="Shape 8"/>
          <p:cNvSpPr/>
          <p:nvPr/>
        </p:nvSpPr>
        <p:spPr>
          <a:xfrm>
            <a:off x="2679192" y="1024128"/>
            <a:ext cx="3886200" cy="67665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1143000"/>
            <a:ext cx="3739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必须保存</a:t>
            </a:r>
            <a:endParaRPr lang="en-US" sz="745" dirty="0"/>
          </a:p>
        </p:txBody>
      </p:sp>
      <p:sp>
        <p:nvSpPr>
          <p:cNvPr id="12" name="Shape 10"/>
          <p:cNvSpPr/>
          <p:nvPr/>
        </p:nvSpPr>
        <p:spPr>
          <a:xfrm>
            <a:off x="6565392" y="1024128"/>
            <a:ext cx="3657600" cy="67665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1143000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745" dirty="0"/>
          </a:p>
        </p:txBody>
      </p:sp>
      <p:sp>
        <p:nvSpPr>
          <p:cNvPr id="14" name="Shape 12"/>
          <p:cNvSpPr/>
          <p:nvPr/>
        </p:nvSpPr>
        <p:spPr>
          <a:xfrm>
            <a:off x="10222992" y="1024128"/>
            <a:ext cx="1371600" cy="67665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96144" y="1143000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</a:t>
            </a:r>
            <a:endParaRPr lang="en-US" sz="745" dirty="0"/>
          </a:p>
        </p:txBody>
      </p:sp>
      <p:sp>
        <p:nvSpPr>
          <p:cNvPr id="16" name="Shape 14"/>
          <p:cNvSpPr/>
          <p:nvPr/>
        </p:nvSpPr>
        <p:spPr>
          <a:xfrm>
            <a:off x="621792" y="1700784"/>
            <a:ext cx="2057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1819656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745" dirty="0"/>
          </a:p>
        </p:txBody>
      </p:sp>
      <p:sp>
        <p:nvSpPr>
          <p:cNvPr id="18" name="Shape 16"/>
          <p:cNvSpPr/>
          <p:nvPr/>
        </p:nvSpPr>
        <p:spPr>
          <a:xfrm>
            <a:off x="2679192" y="1700784"/>
            <a:ext cx="38862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52344" y="1819656"/>
            <a:ext cx="3739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goodsAmount、merchantDiscount、platformDiscount、shippingFee、payAmount、refundAmount、commission、settleAmount</a:t>
            </a:r>
            <a:endParaRPr lang="en-US" sz="745" dirty="0"/>
          </a:p>
        </p:txBody>
      </p:sp>
      <p:sp>
        <p:nvSpPr>
          <p:cNvPr id="20" name="Shape 18"/>
          <p:cNvSpPr/>
          <p:nvPr/>
        </p:nvSpPr>
        <p:spPr>
          <a:xfrm>
            <a:off x="6565392" y="1700784"/>
            <a:ext cx="36576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1819656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列表展示、对账、分账汇总</a:t>
            </a:r>
            <a:endParaRPr lang="en-US" sz="745" dirty="0"/>
          </a:p>
        </p:txBody>
      </p:sp>
      <p:sp>
        <p:nvSpPr>
          <p:cNvPr id="22" name="Shape 20"/>
          <p:cNvSpPr/>
          <p:nvPr/>
        </p:nvSpPr>
        <p:spPr>
          <a:xfrm>
            <a:off x="10222992" y="1700784"/>
            <a:ext cx="13716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96144" y="1819656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745" dirty="0"/>
          </a:p>
        </p:txBody>
      </p:sp>
      <p:sp>
        <p:nvSpPr>
          <p:cNvPr id="24" name="Shape 22"/>
          <p:cNvSpPr/>
          <p:nvPr/>
        </p:nvSpPr>
        <p:spPr>
          <a:xfrm>
            <a:off x="621792" y="2377440"/>
            <a:ext cx="20574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496312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745" dirty="0"/>
          </a:p>
        </p:txBody>
      </p:sp>
      <p:sp>
        <p:nvSpPr>
          <p:cNvPr id="26" name="Shape 24"/>
          <p:cNvSpPr/>
          <p:nvPr/>
        </p:nvSpPr>
        <p:spPr>
          <a:xfrm>
            <a:off x="2679192" y="2377440"/>
            <a:ext cx="38862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2496312"/>
            <a:ext cx="3739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originPrice、activityPrice、quantity、discountShare、shippingShare、payShare、refundAmount、commissionShare</a:t>
            </a:r>
            <a:endParaRPr lang="en-US" sz="745" dirty="0"/>
          </a:p>
        </p:txBody>
      </p:sp>
      <p:sp>
        <p:nvSpPr>
          <p:cNvPr id="28" name="Shape 26"/>
          <p:cNvSpPr/>
          <p:nvPr/>
        </p:nvSpPr>
        <p:spPr>
          <a:xfrm>
            <a:off x="6565392" y="2377440"/>
            <a:ext cx="36576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2496312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退款、评价、明细追溯</a:t>
            </a:r>
            <a:endParaRPr lang="en-US" sz="745" dirty="0"/>
          </a:p>
        </p:txBody>
      </p:sp>
      <p:sp>
        <p:nvSpPr>
          <p:cNvPr id="30" name="Shape 28"/>
          <p:cNvSpPr/>
          <p:nvPr/>
        </p:nvSpPr>
        <p:spPr>
          <a:xfrm>
            <a:off x="10222992" y="2377440"/>
            <a:ext cx="13716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96144" y="2496312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745" dirty="0"/>
          </a:p>
        </p:txBody>
      </p:sp>
      <p:sp>
        <p:nvSpPr>
          <p:cNvPr id="32" name="Shape 30"/>
          <p:cNvSpPr/>
          <p:nvPr/>
        </p:nvSpPr>
        <p:spPr>
          <a:xfrm>
            <a:off x="621792" y="3054096"/>
            <a:ext cx="20574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3172968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745" dirty="0"/>
          </a:p>
        </p:txBody>
      </p:sp>
      <p:sp>
        <p:nvSpPr>
          <p:cNvPr id="34" name="Shape 32"/>
          <p:cNvSpPr/>
          <p:nvPr/>
        </p:nvSpPr>
        <p:spPr>
          <a:xfrm>
            <a:off x="2679192" y="3054096"/>
            <a:ext cx="38862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52344" y="3172968"/>
            <a:ext cx="3739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totalPayAmount、paidAmount、channel、scene、paidTime</a:t>
            </a:r>
            <a:endParaRPr lang="en-US" sz="745" dirty="0"/>
          </a:p>
        </p:txBody>
      </p:sp>
      <p:sp>
        <p:nvSpPr>
          <p:cNvPr id="36" name="Shape 34"/>
          <p:cNvSpPr/>
          <p:nvPr/>
        </p:nvSpPr>
        <p:spPr>
          <a:xfrm>
            <a:off x="6565392" y="3054096"/>
            <a:ext cx="36576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3172968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一次支付批次追踪</a:t>
            </a:r>
            <a:endParaRPr lang="en-US" sz="745" dirty="0"/>
          </a:p>
        </p:txBody>
      </p:sp>
      <p:sp>
        <p:nvSpPr>
          <p:cNvPr id="38" name="Shape 36"/>
          <p:cNvSpPr/>
          <p:nvPr/>
        </p:nvSpPr>
        <p:spPr>
          <a:xfrm>
            <a:off x="10222992" y="3054096"/>
            <a:ext cx="1371600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96144" y="317296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745" dirty="0"/>
          </a:p>
        </p:txBody>
      </p:sp>
      <p:sp>
        <p:nvSpPr>
          <p:cNvPr id="40" name="Shape 38"/>
          <p:cNvSpPr/>
          <p:nvPr/>
        </p:nvSpPr>
        <p:spPr>
          <a:xfrm>
            <a:off x="621792" y="3730752"/>
            <a:ext cx="20574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3849624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profit_share</a:t>
            </a:r>
            <a:endParaRPr lang="en-US" sz="745" dirty="0"/>
          </a:p>
        </p:txBody>
      </p:sp>
      <p:sp>
        <p:nvSpPr>
          <p:cNvPr id="42" name="Shape 40"/>
          <p:cNvSpPr/>
          <p:nvPr/>
        </p:nvSpPr>
        <p:spPr>
          <a:xfrm>
            <a:off x="2679192" y="3730752"/>
            <a:ext cx="38862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3849624"/>
            <a:ext cx="3739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merchantReceivable、platformCommission、platformSubsidy、sharedAmount、returnedAmount</a:t>
            </a:r>
            <a:endParaRPr lang="en-US" sz="745" dirty="0"/>
          </a:p>
        </p:txBody>
      </p:sp>
      <p:sp>
        <p:nvSpPr>
          <p:cNvPr id="44" name="Shape 42"/>
          <p:cNvSpPr/>
          <p:nvPr/>
        </p:nvSpPr>
        <p:spPr>
          <a:xfrm>
            <a:off x="6565392" y="3730752"/>
            <a:ext cx="36576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38544" y="3849624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分账和补贴结算</a:t>
            </a:r>
            <a:endParaRPr lang="en-US" sz="745" dirty="0"/>
          </a:p>
        </p:txBody>
      </p:sp>
      <p:sp>
        <p:nvSpPr>
          <p:cNvPr id="46" name="Shape 44"/>
          <p:cNvSpPr/>
          <p:nvPr/>
        </p:nvSpPr>
        <p:spPr>
          <a:xfrm>
            <a:off x="10222992" y="3730752"/>
            <a:ext cx="1371600" cy="67665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96144" y="3849624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745" dirty="0"/>
          </a:p>
        </p:txBody>
      </p:sp>
      <p:sp>
        <p:nvSpPr>
          <p:cNvPr id="48" name="Shape 46"/>
          <p:cNvSpPr/>
          <p:nvPr/>
        </p:nvSpPr>
        <p:spPr>
          <a:xfrm>
            <a:off x="914400" y="5230368"/>
            <a:ext cx="102870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14400" y="5230368"/>
            <a:ext cx="73152" cy="896112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5568" y="5376672"/>
            <a:ext cx="9976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分摊舍入规则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115568" y="5705856"/>
            <a:ext cx="99761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平台券、运费、满减等跨明细分摊按比例到分；舍入差额补到实付金额最大的 order_item，确保可复现。</a:t>
            </a:r>
            <a:endParaRPr lang="en-US" sz="91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库存与幂等规则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库存锁定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提交订单即锁库存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分钟未支付关闭并释放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支付成功转为已售占用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提交幂等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结算页生成 submitToken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token 只允许创建一次 payment_batch 和订单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支付幂等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payment_order_no 作为渠道幂等键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切换渠道前关闭旧 payment_order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退款/分账幂等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refund_no、profit_share_no 作为渠道请求幂等键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重复回调只更新一次业务状态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支付成功一致性边界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回调验签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12648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渠道适配器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14372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97252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6980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更新支付单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506980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4108704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1584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1312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更新批次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401312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003036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5916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5644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回写订单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95644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PAID/WAIT_SHIP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7897368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80248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9976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确认库存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8189976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locked -&gt; sold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9791700" y="1636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74580" y="1234440"/>
            <a:ext cx="1729740" cy="1005840"/>
          </a:xfrm>
          <a:prstGeom prst="roundRect">
            <a:avLst>
              <a:gd name="adj" fmla="val 5455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4308" y="1362456"/>
            <a:ext cx="151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发布事件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0084308" y="1655064"/>
            <a:ext cx="1510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后续通知/统计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914400" y="3063240"/>
            <a:ext cx="506577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3063240"/>
            <a:ext cx="73152" cy="201168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32095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事务边界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15568" y="3538728"/>
            <a:ext cx="47548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支付回调内用本地事务更新批次、订单、库存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再发布领域事件，避免支付成功但订单没变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181344" y="3063240"/>
            <a:ext cx="5065776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81344" y="3063240"/>
            <a:ext cx="73152" cy="201168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2095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补偿边界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82512" y="3538728"/>
            <a:ext cx="47548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事件失败不影响支付主事务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定时任务和每日对账负责发现并修复遗漏</a:t>
            </a:r>
            <a:endParaRPr lang="en-US" sz="86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平台治理关键规则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商品治理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商品内容变更审核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规格内容审核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SPU 参数平台同步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商家治理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商家取消已支付订单留责任原因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缺货、超时发货、售后拒绝率纳入统计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权限治理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平台角色权限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商家员工按店铺角色授权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财务操作独立权限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审计治理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商品审核、价格库存、订单退款、分账、权限、商家账户关键操作留日志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分阶段落地路线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40817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一期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86968" y="170078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商品/店铺/SKU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库存/购物车/订单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3275838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58718" y="128016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8446" y="140817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二期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68446" y="170078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微信/支付宝支付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退款/支付批次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5957316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196" y="128016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9924" y="140817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三期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249924" y="170078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售后/发货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分账/结算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638794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1674" y="1280160"/>
            <a:ext cx="251688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1402" y="1408176"/>
            <a:ext cx="22974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四期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931402" y="1700784"/>
            <a:ext cx="2297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对账/评价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报表/治理/风控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" y="3154680"/>
            <a:ext cx="506577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3300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建议节奏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5568" y="3630168"/>
            <a:ext cx="47548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先把商品、订单、库存和支付批次跑通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再接渠道支付和退款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最后接分账、对账和治理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81344" y="3154680"/>
            <a:ext cx="506577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3154680"/>
            <a:ext cx="73152" cy="187452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3009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不可跳过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82512" y="3630168"/>
            <a:ext cx="475488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金额快照、幂等键、库存流水、支付异常池必须首版就有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否则后续资金链路难补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前置依赖与风险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渠道签约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8408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微信电商收付通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支付宝直付通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分账、退款、回退、账单能力确认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6181344" y="1207008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207008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533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商家进件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2512" y="1682496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二级商户/收款账户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分账接收方状态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渠道账户可用性决定支付渠道交集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财务口径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8408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佣金基数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平台券补贴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手续费承担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运费归属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6181344" y="3474720"/>
            <a:ext cx="5202936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3474720"/>
            <a:ext cx="73152" cy="2048256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2102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系统风险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3950208"/>
            <a:ext cx="4892040" cy="1472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支付晚到回调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分账失败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退款与分账并发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账单字段差异</a:t>
            </a:r>
            <a:endParaRPr lang="en-US" sz="89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" y="1828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用成熟平台电商模型承接 B2B 多商家平台：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payment_batch 支持跨店一次支付，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shop_order 承接商家履约和分账，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用渠道抽象支持微信与支付宝，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形成可运营、可对账、可扩展的商城底座。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87552" y="498348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505663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商品标准化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2724912" y="498348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4912" y="505663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跨店支付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4462272" y="498348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505663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店铺履约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199632" y="498348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505663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冻结分账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7936992" y="498348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505663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9674352" y="498348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74352" y="505663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平台治理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F3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85248"/>
          </a:solidFill>
          <a:ln w="12700">
            <a:solidFill>
              <a:srgbClr val="2852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118872" cy="68580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0" y="19659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56432" y="28163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DE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用于研发评审继续展开：核心表、状态机、金额字段、渠道差异、对账异常。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858000" y="3749040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48695F"/>
          </a:solidFill>
          <a:ln w="12700">
            <a:solidFill>
              <a:srgbClr val="486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82219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A1. 核心表结构草案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024128"/>
            <a:ext cx="20116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14300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606040" y="1024128"/>
            <a:ext cx="42976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143000"/>
            <a:ext cx="4151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核心表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903720" y="1024128"/>
            <a:ext cx="4754880" cy="566928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114300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94360" y="1591056"/>
            <a:ext cx="2011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709928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606040" y="1591056"/>
            <a:ext cx="4297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709928"/>
            <a:ext cx="4151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/ attribute / spu / item / sku / sku_attr_value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903720" y="1591056"/>
            <a:ext cx="47548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709928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类目属性模板、标准商品、商家商品、可售规格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94360" y="2157984"/>
            <a:ext cx="20116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276856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06040" y="2157984"/>
            <a:ext cx="42976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276856"/>
            <a:ext cx="4151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sku_stock / stock_lock / stock_flow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903720" y="2157984"/>
            <a:ext cx="47548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276856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总库存、锁定库存、库存流水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594360" y="2724912"/>
            <a:ext cx="2011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2843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2606040" y="2724912"/>
            <a:ext cx="4297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2843784"/>
            <a:ext cx="4151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/ shop_order / order_item / order_status_log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903720" y="2724912"/>
            <a:ext cx="47548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6872" y="2843784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一次支付批次、店铺订单、商品明细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94360" y="3291840"/>
            <a:ext cx="20116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410712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606040" y="3291840"/>
            <a:ext cx="42976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9192" y="3410712"/>
            <a:ext cx="4151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 / refund_order / profit_share_order / settlement_bill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903720" y="3291840"/>
            <a:ext cx="4754880" cy="566928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3410712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支付尝试、渠道退款、分账、补贴结算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94360" y="3858768"/>
            <a:ext cx="2011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397764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606040" y="3858768"/>
            <a:ext cx="42976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9192" y="3977640"/>
            <a:ext cx="4151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reconciliation_job / channel_bill_record / audit_log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903720" y="3858768"/>
            <a:ext cx="475488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397764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每日对账、渠道账单、关键操作审计</a:t>
            </a:r>
            <a:endParaRPr lang="en-US" sz="72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A2. shop_order 状态字段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078992"/>
            <a:ext cx="219456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1978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</a:t>
            </a:r>
            <a:endParaRPr lang="en-US" sz="715" dirty="0"/>
          </a:p>
        </p:txBody>
      </p:sp>
      <p:sp>
        <p:nvSpPr>
          <p:cNvPr id="10" name="Shape 8"/>
          <p:cNvSpPr/>
          <p:nvPr/>
        </p:nvSpPr>
        <p:spPr>
          <a:xfrm>
            <a:off x="2880360" y="1078992"/>
            <a:ext cx="402336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19786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建议值</a:t>
            </a:r>
            <a:endParaRPr lang="en-US" sz="715" dirty="0"/>
          </a:p>
        </p:txBody>
      </p:sp>
      <p:sp>
        <p:nvSpPr>
          <p:cNvPr id="12" name="Shape 10"/>
          <p:cNvSpPr/>
          <p:nvPr/>
        </p:nvSpPr>
        <p:spPr>
          <a:xfrm>
            <a:off x="6903720" y="1078992"/>
            <a:ext cx="457200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1197864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715" dirty="0"/>
          </a:p>
        </p:txBody>
      </p:sp>
      <p:sp>
        <p:nvSpPr>
          <p:cNvPr id="14" name="Shape 12"/>
          <p:cNvSpPr/>
          <p:nvPr/>
        </p:nvSpPr>
        <p:spPr>
          <a:xfrm>
            <a:off x="685800" y="1609344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17282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orderStatus</a:t>
            </a:r>
            <a:endParaRPr lang="en-US" sz="715" dirty="0"/>
          </a:p>
        </p:txBody>
      </p:sp>
      <p:sp>
        <p:nvSpPr>
          <p:cNvPr id="16" name="Shape 14"/>
          <p:cNvSpPr/>
          <p:nvPr/>
        </p:nvSpPr>
        <p:spPr>
          <a:xfrm>
            <a:off x="2880360" y="1609344"/>
            <a:ext cx="40233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172821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 / ACTIVE / CANCELED / CLOSED / COMPLETED</a:t>
            </a:r>
            <a:endParaRPr lang="en-US" sz="715" dirty="0"/>
          </a:p>
        </p:txBody>
      </p:sp>
      <p:sp>
        <p:nvSpPr>
          <p:cNvPr id="18" name="Shape 16"/>
          <p:cNvSpPr/>
          <p:nvPr/>
        </p:nvSpPr>
        <p:spPr>
          <a:xfrm>
            <a:off x="6903720" y="1609344"/>
            <a:ext cx="45720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728216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订单主生命周期</a:t>
            </a:r>
            <a:endParaRPr lang="en-US" sz="715" dirty="0"/>
          </a:p>
        </p:txBody>
      </p:sp>
      <p:sp>
        <p:nvSpPr>
          <p:cNvPr id="20" name="Shape 18"/>
          <p:cNvSpPr/>
          <p:nvPr/>
        </p:nvSpPr>
        <p:spPr>
          <a:xfrm>
            <a:off x="685800" y="2139696"/>
            <a:ext cx="21945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258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payStatus</a:t>
            </a:r>
            <a:endParaRPr lang="en-US" sz="715" dirty="0"/>
          </a:p>
        </p:txBody>
      </p:sp>
      <p:sp>
        <p:nvSpPr>
          <p:cNvPr id="22" name="Shape 20"/>
          <p:cNvSpPr/>
          <p:nvPr/>
        </p:nvSpPr>
        <p:spPr>
          <a:xfrm>
            <a:off x="2880360" y="2139696"/>
            <a:ext cx="40233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225856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WAIT_PAY / PAID / REFUNDING / REFUNDED / PAY_EXCEPTION</a:t>
            </a:r>
            <a:endParaRPr lang="en-US" sz="715" dirty="0"/>
          </a:p>
        </p:txBody>
      </p:sp>
      <p:sp>
        <p:nvSpPr>
          <p:cNvPr id="24" name="Shape 22"/>
          <p:cNvSpPr/>
          <p:nvPr/>
        </p:nvSpPr>
        <p:spPr>
          <a:xfrm>
            <a:off x="6903720" y="2139696"/>
            <a:ext cx="45720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25856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支付和退款聚合状态</a:t>
            </a:r>
            <a:endParaRPr lang="en-US" sz="715" dirty="0"/>
          </a:p>
        </p:txBody>
      </p:sp>
      <p:sp>
        <p:nvSpPr>
          <p:cNvPr id="26" name="Shape 24"/>
          <p:cNvSpPr/>
          <p:nvPr/>
        </p:nvSpPr>
        <p:spPr>
          <a:xfrm>
            <a:off x="685800" y="2670048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27889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shipStatus</a:t>
            </a:r>
            <a:endParaRPr lang="en-US" sz="715" dirty="0"/>
          </a:p>
        </p:txBody>
      </p:sp>
      <p:sp>
        <p:nvSpPr>
          <p:cNvPr id="28" name="Shape 26"/>
          <p:cNvSpPr/>
          <p:nvPr/>
        </p:nvSpPr>
        <p:spPr>
          <a:xfrm>
            <a:off x="2880360" y="2670048"/>
            <a:ext cx="40233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3512" y="278892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WAIT_SHIP / SHIPPED / RECEIVED</a:t>
            </a:r>
            <a:endParaRPr lang="en-US" sz="715" dirty="0"/>
          </a:p>
        </p:txBody>
      </p:sp>
      <p:sp>
        <p:nvSpPr>
          <p:cNvPr id="30" name="Shape 28"/>
          <p:cNvSpPr/>
          <p:nvPr/>
        </p:nvSpPr>
        <p:spPr>
          <a:xfrm>
            <a:off x="6903720" y="2670048"/>
            <a:ext cx="45720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6872" y="278892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履约发货和收货状态</a:t>
            </a:r>
            <a:endParaRPr lang="en-US" sz="715" dirty="0"/>
          </a:p>
        </p:txBody>
      </p:sp>
      <p:sp>
        <p:nvSpPr>
          <p:cNvPr id="32" name="Shape 30"/>
          <p:cNvSpPr/>
          <p:nvPr/>
        </p:nvSpPr>
        <p:spPr>
          <a:xfrm>
            <a:off x="685800" y="3200400"/>
            <a:ext cx="21945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331927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aftersaleStatus</a:t>
            </a:r>
            <a:endParaRPr lang="en-US" sz="715" dirty="0"/>
          </a:p>
        </p:txBody>
      </p:sp>
      <p:sp>
        <p:nvSpPr>
          <p:cNvPr id="34" name="Shape 32"/>
          <p:cNvSpPr/>
          <p:nvPr/>
        </p:nvSpPr>
        <p:spPr>
          <a:xfrm>
            <a:off x="2880360" y="3200400"/>
            <a:ext cx="40233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3512" y="331927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 / PROCESSING / PARTIAL / FINISHED</a:t>
            </a:r>
            <a:endParaRPr lang="en-US" sz="715" dirty="0"/>
          </a:p>
        </p:txBody>
      </p:sp>
      <p:sp>
        <p:nvSpPr>
          <p:cNvPr id="36" name="Shape 34"/>
          <p:cNvSpPr/>
          <p:nvPr/>
        </p:nvSpPr>
        <p:spPr>
          <a:xfrm>
            <a:off x="6903720" y="3200400"/>
            <a:ext cx="45720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331927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订单是否有售后中或已完成售后</a:t>
            </a:r>
            <a:endParaRPr lang="en-US" sz="715" dirty="0"/>
          </a:p>
        </p:txBody>
      </p:sp>
      <p:sp>
        <p:nvSpPr>
          <p:cNvPr id="38" name="Shape 36"/>
          <p:cNvSpPr/>
          <p:nvPr/>
        </p:nvSpPr>
        <p:spPr>
          <a:xfrm>
            <a:off x="685800" y="3730752"/>
            <a:ext cx="21945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38496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profitShareStatus</a:t>
            </a:r>
            <a:endParaRPr lang="en-US" sz="715" dirty="0"/>
          </a:p>
        </p:txBody>
      </p:sp>
      <p:sp>
        <p:nvSpPr>
          <p:cNvPr id="40" name="Shape 38"/>
          <p:cNvSpPr/>
          <p:nvPr/>
        </p:nvSpPr>
        <p:spPr>
          <a:xfrm>
            <a:off x="2880360" y="3730752"/>
            <a:ext cx="40233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53512" y="384962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WAITING / READY / PROCESSING / SUCCESS / FAILED</a:t>
            </a:r>
            <a:endParaRPr lang="en-US" sz="715" dirty="0"/>
          </a:p>
        </p:txBody>
      </p:sp>
      <p:sp>
        <p:nvSpPr>
          <p:cNvPr id="42" name="Shape 40"/>
          <p:cNvSpPr/>
          <p:nvPr/>
        </p:nvSpPr>
        <p:spPr>
          <a:xfrm>
            <a:off x="6903720" y="3730752"/>
            <a:ext cx="45720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3849624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分账生命周期</a:t>
            </a:r>
            <a:endParaRPr lang="en-US" sz="715" dirty="0"/>
          </a:p>
        </p:txBody>
      </p:sp>
      <p:sp>
        <p:nvSpPr>
          <p:cNvPr id="44" name="Shape 42"/>
          <p:cNvSpPr/>
          <p:nvPr/>
        </p:nvSpPr>
        <p:spPr>
          <a:xfrm>
            <a:off x="685800" y="4261104"/>
            <a:ext cx="21945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" y="43799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closeReason</a:t>
            </a:r>
            <a:endParaRPr lang="en-US" sz="715" dirty="0"/>
          </a:p>
        </p:txBody>
      </p:sp>
      <p:sp>
        <p:nvSpPr>
          <p:cNvPr id="46" name="Shape 44"/>
          <p:cNvSpPr/>
          <p:nvPr/>
        </p:nvSpPr>
        <p:spPr>
          <a:xfrm>
            <a:off x="2880360" y="4261104"/>
            <a:ext cx="40233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437997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PAY_TIMEOUT / USER_CANCEL / MERCHANT_CANCEL / PLATFORM_CLOSE / LATE_PAYMENT</a:t>
            </a:r>
            <a:endParaRPr lang="en-US" sz="715" dirty="0"/>
          </a:p>
        </p:txBody>
      </p:sp>
      <p:sp>
        <p:nvSpPr>
          <p:cNvPr id="48" name="Shape 46"/>
          <p:cNvSpPr/>
          <p:nvPr/>
        </p:nvSpPr>
        <p:spPr>
          <a:xfrm>
            <a:off x="6903720" y="4261104"/>
            <a:ext cx="45720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76872" y="4379976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关闭原因与责任归因</a:t>
            </a:r>
            <a:endParaRPr lang="en-US" sz="71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A3. payment_batch / payment_order 状态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097280"/>
            <a:ext cx="2377440" cy="62179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21615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735" dirty="0"/>
          </a:p>
        </p:txBody>
      </p:sp>
      <p:sp>
        <p:nvSpPr>
          <p:cNvPr id="10" name="Shape 8"/>
          <p:cNvSpPr/>
          <p:nvPr/>
        </p:nvSpPr>
        <p:spPr>
          <a:xfrm>
            <a:off x="3090672" y="1097280"/>
            <a:ext cx="3931920" cy="62179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216152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735" dirty="0"/>
          </a:p>
        </p:txBody>
      </p:sp>
      <p:sp>
        <p:nvSpPr>
          <p:cNvPr id="12" name="Shape 10"/>
          <p:cNvSpPr/>
          <p:nvPr/>
        </p:nvSpPr>
        <p:spPr>
          <a:xfrm>
            <a:off x="7022592" y="1097280"/>
            <a:ext cx="4434840" cy="62179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1216152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735" dirty="0"/>
          </a:p>
        </p:txBody>
      </p:sp>
      <p:sp>
        <p:nvSpPr>
          <p:cNvPr id="14" name="Shape 12"/>
          <p:cNvSpPr/>
          <p:nvPr/>
        </p:nvSpPr>
        <p:spPr>
          <a:xfrm>
            <a:off x="713232" y="1719072"/>
            <a:ext cx="23774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183794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</a:t>
            </a:r>
            <a:endParaRPr lang="en-US" sz="735" dirty="0"/>
          </a:p>
        </p:txBody>
      </p:sp>
      <p:sp>
        <p:nvSpPr>
          <p:cNvPr id="16" name="Shape 14"/>
          <p:cNvSpPr/>
          <p:nvPr/>
        </p:nvSpPr>
        <p:spPr>
          <a:xfrm>
            <a:off x="3090672" y="1719072"/>
            <a:ext cx="3931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183794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/ PAYING / PAID / CLOSED / PAY_EXCEPTION</a:t>
            </a:r>
            <a:endParaRPr lang="en-US" sz="735" dirty="0"/>
          </a:p>
        </p:txBody>
      </p:sp>
      <p:sp>
        <p:nvSpPr>
          <p:cNvPr id="18" name="Shape 16"/>
          <p:cNvSpPr/>
          <p:nvPr/>
        </p:nvSpPr>
        <p:spPr>
          <a:xfrm>
            <a:off x="7022592" y="1719072"/>
            <a:ext cx="4434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95744" y="1837944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业务支付批次状态</a:t>
            </a:r>
            <a:endParaRPr lang="en-US" sz="735" dirty="0"/>
          </a:p>
        </p:txBody>
      </p:sp>
      <p:sp>
        <p:nvSpPr>
          <p:cNvPr id="20" name="Shape 18"/>
          <p:cNvSpPr/>
          <p:nvPr/>
        </p:nvSpPr>
        <p:spPr>
          <a:xfrm>
            <a:off x="713232" y="2340864"/>
            <a:ext cx="2377440" cy="62179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45973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payment_order</a:t>
            </a:r>
            <a:endParaRPr lang="en-US" sz="735" dirty="0"/>
          </a:p>
        </p:txBody>
      </p:sp>
      <p:sp>
        <p:nvSpPr>
          <p:cNvPr id="22" name="Shape 20"/>
          <p:cNvSpPr/>
          <p:nvPr/>
        </p:nvSpPr>
        <p:spPr>
          <a:xfrm>
            <a:off x="3090672" y="2340864"/>
            <a:ext cx="3931920" cy="62179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2459736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CREATED / PREPAY_CREATED / SUCCESS / FAILED / CLOSED</a:t>
            </a:r>
            <a:endParaRPr lang="en-US" sz="735" dirty="0"/>
          </a:p>
        </p:txBody>
      </p:sp>
      <p:sp>
        <p:nvSpPr>
          <p:cNvPr id="24" name="Shape 22"/>
          <p:cNvSpPr/>
          <p:nvPr/>
        </p:nvSpPr>
        <p:spPr>
          <a:xfrm>
            <a:off x="7022592" y="2340864"/>
            <a:ext cx="4434840" cy="62179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5744" y="2459736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现有支付域执行单状态可扩展复用</a:t>
            </a:r>
            <a:endParaRPr lang="en-US" sz="735" dirty="0"/>
          </a:p>
        </p:txBody>
      </p:sp>
      <p:sp>
        <p:nvSpPr>
          <p:cNvPr id="26" name="Shape 24"/>
          <p:cNvSpPr/>
          <p:nvPr/>
        </p:nvSpPr>
        <p:spPr>
          <a:xfrm>
            <a:off x="713232" y="2962656"/>
            <a:ext cx="23774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0815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切换渠道</a:t>
            </a:r>
            <a:endParaRPr lang="en-US" sz="735" dirty="0"/>
          </a:p>
        </p:txBody>
      </p:sp>
      <p:sp>
        <p:nvSpPr>
          <p:cNvPr id="28" name="Shape 26"/>
          <p:cNvSpPr/>
          <p:nvPr/>
        </p:nvSpPr>
        <p:spPr>
          <a:xfrm>
            <a:off x="3090672" y="2962656"/>
            <a:ext cx="3931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3824" y="3081528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payment_order CLOSED，新建 payment_order</a:t>
            </a:r>
            <a:endParaRPr lang="en-US" sz="735" dirty="0"/>
          </a:p>
        </p:txBody>
      </p:sp>
      <p:sp>
        <p:nvSpPr>
          <p:cNvPr id="30" name="Shape 28"/>
          <p:cNvSpPr/>
          <p:nvPr/>
        </p:nvSpPr>
        <p:spPr>
          <a:xfrm>
            <a:off x="7022592" y="2962656"/>
            <a:ext cx="4434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95744" y="3081528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同一批次只保留一个有效支付尝试</a:t>
            </a:r>
            <a:endParaRPr lang="en-US" sz="735" dirty="0"/>
          </a:p>
        </p:txBody>
      </p:sp>
      <p:sp>
        <p:nvSpPr>
          <p:cNvPr id="32" name="Shape 30"/>
          <p:cNvSpPr/>
          <p:nvPr/>
        </p:nvSpPr>
        <p:spPr>
          <a:xfrm>
            <a:off x="713232" y="3584448"/>
            <a:ext cx="2377440" cy="62179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70332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晚到回调</a:t>
            </a:r>
            <a:endParaRPr lang="en-US" sz="735" dirty="0"/>
          </a:p>
        </p:txBody>
      </p:sp>
      <p:sp>
        <p:nvSpPr>
          <p:cNvPr id="34" name="Shape 32"/>
          <p:cNvSpPr/>
          <p:nvPr/>
        </p:nvSpPr>
        <p:spPr>
          <a:xfrm>
            <a:off x="3090672" y="3584448"/>
            <a:ext cx="3931920" cy="62179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3703320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 PAY_EXCEPTION</a:t>
            </a:r>
            <a:endParaRPr lang="en-US" sz="735" dirty="0"/>
          </a:p>
        </p:txBody>
      </p:sp>
      <p:sp>
        <p:nvSpPr>
          <p:cNvPr id="36" name="Shape 34"/>
          <p:cNvSpPr/>
          <p:nvPr/>
        </p:nvSpPr>
        <p:spPr>
          <a:xfrm>
            <a:off x="7022592" y="3584448"/>
            <a:ext cx="4434840" cy="62179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95744" y="3703320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不自动恢复订单，进入异常池处理</a:t>
            </a:r>
            <a:endParaRPr lang="en-US" sz="735" dirty="0"/>
          </a:p>
        </p:txBody>
      </p:sp>
      <p:sp>
        <p:nvSpPr>
          <p:cNvPr id="38" name="Shape 36"/>
          <p:cNvSpPr/>
          <p:nvPr/>
        </p:nvSpPr>
        <p:spPr>
          <a:xfrm>
            <a:off x="713232" y="4206240"/>
            <a:ext cx="23774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43251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重复回调</a:t>
            </a:r>
            <a:endParaRPr lang="en-US" sz="735" dirty="0"/>
          </a:p>
        </p:txBody>
      </p:sp>
      <p:sp>
        <p:nvSpPr>
          <p:cNvPr id="40" name="Shape 38"/>
          <p:cNvSpPr/>
          <p:nvPr/>
        </p:nvSpPr>
        <p:spPr>
          <a:xfrm>
            <a:off x="3090672" y="4206240"/>
            <a:ext cx="39319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63824" y="4325112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SUCCESS 幂等返回</a:t>
            </a:r>
            <a:endParaRPr lang="en-US" sz="735" dirty="0"/>
          </a:p>
        </p:txBody>
      </p:sp>
      <p:sp>
        <p:nvSpPr>
          <p:cNvPr id="42" name="Shape 40"/>
          <p:cNvSpPr/>
          <p:nvPr/>
        </p:nvSpPr>
        <p:spPr>
          <a:xfrm>
            <a:off x="7022592" y="4206240"/>
            <a:ext cx="443484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4325112"/>
            <a:ext cx="4288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不重复扣库存、不重复发布成功事件</a:t>
            </a:r>
            <a:endParaRPr lang="en-US" sz="73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A4. 分账状态机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2044598" cy="1097280"/>
          </a:xfrm>
          <a:prstGeom prst="roundRect">
            <a:avLst>
              <a:gd name="adj" fmla="val 50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40817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WAITING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95528" y="1700784"/>
            <a:ext cx="18251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确认收货前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或售后保护期内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712110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94990" y="1280160"/>
            <a:ext cx="204459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4718" y="140817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004718" y="1700784"/>
            <a:ext cx="18251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确认收货 T+7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无售后中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4921301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04181" y="1280160"/>
            <a:ext cx="2044598" cy="1097280"/>
          </a:xfrm>
          <a:prstGeom prst="roundRect">
            <a:avLst>
              <a:gd name="adj" fmla="val 5000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3909" y="140817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PROCESSING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213909" y="1700784"/>
            <a:ext cx="18251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已请求渠道分账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7130491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3371" y="1280160"/>
            <a:ext cx="2044598" cy="1097280"/>
          </a:xfrm>
          <a:prstGeom prst="roundRect">
            <a:avLst>
              <a:gd name="adj" fmla="val 5000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3099" y="140817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423099" y="1700784"/>
            <a:ext cx="18251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分账成功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调用完结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9339682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22562" y="1280160"/>
            <a:ext cx="2044598" cy="1097280"/>
          </a:xfrm>
          <a:prstGeom prst="roundRect">
            <a:avLst>
              <a:gd name="adj" fmla="val 5000"/>
            </a:avLst>
          </a:prstGeom>
          <a:solidFill>
            <a:srgbClr val="F7E4E1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2290" y="1408176"/>
            <a:ext cx="18251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632290" y="1700784"/>
            <a:ext cx="18251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自动重试后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人工处理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68680" y="3337560"/>
            <a:ext cx="33253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3337560"/>
            <a:ext cx="73152" cy="17373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348386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69848" y="3813048"/>
            <a:ext cx="301447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定时扫描 READY 订单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事件只做加速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95216" y="3337560"/>
            <a:ext cx="33253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95216" y="3337560"/>
            <a:ext cx="73152" cy="17373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6384" y="348386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退款约束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96384" y="3813048"/>
            <a:ext cx="301447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售后中订单不进入 READY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已分账后退款必须先回退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21752" y="3337560"/>
            <a:ext cx="33253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21752" y="3337560"/>
            <a:ext cx="73152" cy="173736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2920" y="348386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完结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22920" y="3813048"/>
            <a:ext cx="301447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成功且无剩余待分金额后主动完结/解冻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A5. 售后状态机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" y="1234440"/>
            <a:ext cx="1734312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362456"/>
            <a:ext cx="1514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APPLIED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85216" y="1655064"/>
            <a:ext cx="1514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用户申请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2191512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74392" y="1234440"/>
            <a:ext cx="17343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4120" y="1362456"/>
            <a:ext cx="1514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MERCHANT_REVIEW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484120" y="1655064"/>
            <a:ext cx="1514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4090416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3296" y="1234440"/>
            <a:ext cx="1734312" cy="960120"/>
          </a:xfrm>
          <a:prstGeom prst="roundRect">
            <a:avLst>
              <a:gd name="adj" fmla="val 5714"/>
            </a:avLst>
          </a:prstGeom>
          <a:solidFill>
            <a:srgbClr val="F3E7D2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3024" y="1362456"/>
            <a:ext cx="1514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RETURNING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383024" y="1655064"/>
            <a:ext cx="1514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退货寄回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5989320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17343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362456"/>
            <a:ext cx="1514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REFUNDING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81928" y="1655064"/>
            <a:ext cx="1514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退款执行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7888224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71104" y="1234440"/>
            <a:ext cx="1734312" cy="960120"/>
          </a:xfrm>
          <a:prstGeom prst="roundRect">
            <a:avLst>
              <a:gd name="adj" fmla="val 5714"/>
            </a:avLst>
          </a:prstGeom>
          <a:solidFill>
            <a:srgbClr val="DDE9E4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0832" y="1362456"/>
            <a:ext cx="1514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FINISHED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8180832" y="1655064"/>
            <a:ext cx="1514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售后完成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9787128" y="16139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970008" y="1234440"/>
            <a:ext cx="1734312" cy="960120"/>
          </a:xfrm>
          <a:prstGeom prst="roundRect">
            <a:avLst>
              <a:gd name="adj" fmla="val 5714"/>
            </a:avLst>
          </a:prstGeom>
          <a:solidFill>
            <a:srgbClr val="F7E4E1"/>
          </a:solidFill>
          <a:ln w="1270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79736" y="1362456"/>
            <a:ext cx="1514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INTERVENTION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0079736" y="1655064"/>
            <a:ext cx="15148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平台介入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868680" y="3246120"/>
            <a:ext cx="33253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3246120"/>
            <a:ext cx="73152" cy="18288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339242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超时规则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69848" y="3721608"/>
            <a:ext cx="3014472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商家审核超时自动同意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物流签收后商家超时未确认自动退款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4395216" y="3246120"/>
            <a:ext cx="33253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95216" y="3246120"/>
            <a:ext cx="73152" cy="18288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6384" y="339242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退款粒度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96384" y="3721608"/>
            <a:ext cx="3014472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支持同一 order_item 按数量部分退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不拆明细行，用数量和金额字段表达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7921752" y="3246120"/>
            <a:ext cx="33253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9D3"/>
            </a:solidFill>
            <a:prstDash val="solid"/>
          </a:ln>
          <a:effectLst>
            <a:outerShdw sx="100000" sy="100000" kx="0" ky="0" algn="bl" rotWithShape="0" blurRad="12700" dist="12700" dir="2700000">
              <a:srgbClr val="80958E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21752" y="3246120"/>
            <a:ext cx="73152" cy="1828800"/>
          </a:xfrm>
          <a:prstGeom prst="rect">
            <a:avLst/>
          </a:prstGeom>
          <a:solidFill>
            <a:srgbClr val="D49B45"/>
          </a:solidFill>
          <a:ln w="12700">
            <a:solidFill>
              <a:srgbClr val="D49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2920" y="3392424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运费规则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122920" y="3721608"/>
            <a:ext cx="3014472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未发货全退含运费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已发货默认不退发货运费，商家责任可退</a:t>
            </a:r>
            <a:endParaRPr lang="en-US" sz="79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A6. 金额字段定义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960120"/>
            <a:ext cx="2148840" cy="49377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7899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2715768" y="960120"/>
            <a:ext cx="3154680" cy="49377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07899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5870448" y="960120"/>
            <a:ext cx="4023360" cy="49377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07899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9893808" y="960120"/>
            <a:ext cx="1783080" cy="493776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107899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是否参与分账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66928" y="1453896"/>
            <a:ext cx="2148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572768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goods_amount_cents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2715768" y="1453896"/>
            <a:ext cx="3154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57276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shop_order/order_item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5870448" y="1453896"/>
            <a:ext cx="402336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7276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商品原始金额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9893808" y="1453896"/>
            <a:ext cx="17830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157276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否，作为基数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566928" y="1947672"/>
            <a:ext cx="214884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06654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merchant_discount_cents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2715768" y="1947672"/>
            <a:ext cx="315468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2066544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5870448" y="1947672"/>
            <a:ext cx="402336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06654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商家活动/商家券分摊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9893808" y="1947672"/>
            <a:ext cx="178308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206654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影响商家实收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566928" y="2441448"/>
            <a:ext cx="2148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platform_discount_cents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2715768" y="2441448"/>
            <a:ext cx="3154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2560320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5870448" y="2441448"/>
            <a:ext cx="402336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56032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平台券/平台活动分摊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9893808" y="2441448"/>
            <a:ext cx="17830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256032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形成平台补贴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566928" y="2935224"/>
            <a:ext cx="214884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054096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shipping_fee_cents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2715768" y="2935224"/>
            <a:ext cx="315468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05409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shop_order/order_item</a:t>
            </a:r>
            <a:endParaRPr lang="en-US" sz="690" dirty="0"/>
          </a:p>
        </p:txBody>
      </p:sp>
      <p:sp>
        <p:nvSpPr>
          <p:cNvPr id="44" name="Shape 42"/>
          <p:cNvSpPr/>
          <p:nvPr/>
        </p:nvSpPr>
        <p:spPr>
          <a:xfrm>
            <a:off x="5870448" y="2935224"/>
            <a:ext cx="402336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05409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店铺运费及分摊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9893808" y="2935224"/>
            <a:ext cx="178308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0" y="3054096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给商家，不计佣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566928" y="3429000"/>
            <a:ext cx="2148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54787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pay_amount_cents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2715768" y="3429000"/>
            <a:ext cx="3154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88920" y="354787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payment_batch/shop_order</a:t>
            </a:r>
            <a:endParaRPr lang="en-US" sz="690" dirty="0"/>
          </a:p>
        </p:txBody>
      </p:sp>
      <p:sp>
        <p:nvSpPr>
          <p:cNvPr id="52" name="Shape 50"/>
          <p:cNvSpPr/>
          <p:nvPr/>
        </p:nvSpPr>
        <p:spPr>
          <a:xfrm>
            <a:off x="5870448" y="3429000"/>
            <a:ext cx="402336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354787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用户实际支付金额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9893808" y="3429000"/>
            <a:ext cx="17830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66960" y="354787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渠道实收上限</a:t>
            </a:r>
            <a:endParaRPr lang="en-US" sz="690" dirty="0"/>
          </a:p>
        </p:txBody>
      </p:sp>
      <p:sp>
        <p:nvSpPr>
          <p:cNvPr id="56" name="Shape 54"/>
          <p:cNvSpPr/>
          <p:nvPr/>
        </p:nvSpPr>
        <p:spPr>
          <a:xfrm>
            <a:off x="566928" y="3922776"/>
            <a:ext cx="214884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4041648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commission_cents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2715768" y="3922776"/>
            <a:ext cx="315468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88920" y="4041648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shop_order/order_item</a:t>
            </a:r>
            <a:endParaRPr lang="en-US" sz="690" dirty="0"/>
          </a:p>
        </p:txBody>
      </p:sp>
      <p:sp>
        <p:nvSpPr>
          <p:cNvPr id="60" name="Shape 58"/>
          <p:cNvSpPr/>
          <p:nvPr/>
        </p:nvSpPr>
        <p:spPr>
          <a:xfrm>
            <a:off x="5870448" y="3922776"/>
            <a:ext cx="402336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404164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平台佣金</a:t>
            </a: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9893808" y="3922776"/>
            <a:ext cx="1783080" cy="493776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66960" y="404164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从商家实收基数计算</a:t>
            </a:r>
            <a:endParaRPr lang="en-US" sz="690" dirty="0"/>
          </a:p>
        </p:txBody>
      </p:sp>
      <p:sp>
        <p:nvSpPr>
          <p:cNvPr id="64" name="Shape 62"/>
          <p:cNvSpPr/>
          <p:nvPr/>
        </p:nvSpPr>
        <p:spPr>
          <a:xfrm>
            <a:off x="566928" y="4416552"/>
            <a:ext cx="214884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53542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settle_amount_cents</a:t>
            </a:r>
            <a:endParaRPr lang="en-US" sz="690" dirty="0"/>
          </a:p>
        </p:txBody>
      </p:sp>
      <p:sp>
        <p:nvSpPr>
          <p:cNvPr id="66" name="Shape 64"/>
          <p:cNvSpPr/>
          <p:nvPr/>
        </p:nvSpPr>
        <p:spPr>
          <a:xfrm>
            <a:off x="2715768" y="4416552"/>
            <a:ext cx="31546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8920" y="4535424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shop_order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5870448" y="4416552"/>
            <a:ext cx="402336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0" y="453542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商家应分/应结金额</a:t>
            </a:r>
            <a:endParaRPr lang="en-US" sz="690" dirty="0"/>
          </a:p>
        </p:txBody>
      </p:sp>
      <p:sp>
        <p:nvSpPr>
          <p:cNvPr id="70" name="Shape 68"/>
          <p:cNvSpPr/>
          <p:nvPr/>
        </p:nvSpPr>
        <p:spPr>
          <a:xfrm>
            <a:off x="9893808" y="4416552"/>
            <a:ext cx="178308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66960" y="4535424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69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A7. 微信 / 支付宝渠道差异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115568"/>
            <a:ext cx="2011680" cy="548640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23444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745" dirty="0"/>
          </a:p>
        </p:txBody>
      </p:sp>
      <p:sp>
        <p:nvSpPr>
          <p:cNvPr id="10" name="Shape 8"/>
          <p:cNvSpPr/>
          <p:nvPr/>
        </p:nvSpPr>
        <p:spPr>
          <a:xfrm>
            <a:off x="2724912" y="1115568"/>
            <a:ext cx="4343400" cy="548640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23444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745" dirty="0"/>
          </a:p>
        </p:txBody>
      </p:sp>
      <p:sp>
        <p:nvSpPr>
          <p:cNvPr id="12" name="Shape 10"/>
          <p:cNvSpPr/>
          <p:nvPr/>
        </p:nvSpPr>
        <p:spPr>
          <a:xfrm>
            <a:off x="7068312" y="1115568"/>
            <a:ext cx="4389120" cy="548640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1464" y="123444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</a:t>
            </a:r>
            <a:endParaRPr lang="en-US" sz="745" dirty="0"/>
          </a:p>
        </p:txBody>
      </p:sp>
      <p:sp>
        <p:nvSpPr>
          <p:cNvPr id="14" name="Shape 12"/>
          <p:cNvSpPr/>
          <p:nvPr/>
        </p:nvSpPr>
        <p:spPr>
          <a:xfrm>
            <a:off x="713232" y="1664208"/>
            <a:ext cx="20116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17830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多商家产品</a:t>
            </a:r>
            <a:endParaRPr lang="en-US" sz="745" dirty="0"/>
          </a:p>
        </p:txBody>
      </p:sp>
      <p:sp>
        <p:nvSpPr>
          <p:cNvPr id="16" name="Shape 14"/>
          <p:cNvSpPr/>
          <p:nvPr/>
        </p:nvSpPr>
        <p:spPr>
          <a:xfrm>
            <a:off x="2724912" y="1664208"/>
            <a:ext cx="43434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178308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电商收付通</a:t>
            </a:r>
            <a:endParaRPr lang="en-US" sz="745" dirty="0"/>
          </a:p>
        </p:txBody>
      </p:sp>
      <p:sp>
        <p:nvSpPr>
          <p:cNvPr id="18" name="Shape 16"/>
          <p:cNvSpPr/>
          <p:nvPr/>
        </p:nvSpPr>
        <p:spPr>
          <a:xfrm>
            <a:off x="7068312" y="1664208"/>
            <a:ext cx="4389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41464" y="178308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直付通</a:t>
            </a:r>
            <a:endParaRPr lang="en-US" sz="745" dirty="0"/>
          </a:p>
        </p:txBody>
      </p:sp>
      <p:sp>
        <p:nvSpPr>
          <p:cNvPr id="20" name="Shape 18"/>
          <p:cNvSpPr/>
          <p:nvPr/>
        </p:nvSpPr>
        <p:spPr>
          <a:xfrm>
            <a:off x="713232" y="2212848"/>
            <a:ext cx="201168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3317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</a:t>
            </a:r>
            <a:endParaRPr lang="en-US" sz="745" dirty="0"/>
          </a:p>
        </p:txBody>
      </p:sp>
      <p:sp>
        <p:nvSpPr>
          <p:cNvPr id="22" name="Shape 20"/>
          <p:cNvSpPr/>
          <p:nvPr/>
        </p:nvSpPr>
        <p:spPr>
          <a:xfrm>
            <a:off x="2724912" y="2212848"/>
            <a:ext cx="434340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233172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微信小程序原生支付</a:t>
            </a:r>
            <a:endParaRPr lang="en-US" sz="745" dirty="0"/>
          </a:p>
        </p:txBody>
      </p:sp>
      <p:sp>
        <p:nvSpPr>
          <p:cNvPr id="24" name="Shape 22"/>
          <p:cNvSpPr/>
          <p:nvPr/>
        </p:nvSpPr>
        <p:spPr>
          <a:xfrm>
            <a:off x="7068312" y="2212848"/>
            <a:ext cx="438912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1464" y="233172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微信小程序内不提供支付宝支付</a:t>
            </a:r>
            <a:endParaRPr lang="en-US" sz="745" dirty="0"/>
          </a:p>
        </p:txBody>
      </p:sp>
      <p:sp>
        <p:nvSpPr>
          <p:cNvPr id="26" name="Shape 24"/>
          <p:cNvSpPr/>
          <p:nvPr/>
        </p:nvSpPr>
        <p:spPr>
          <a:xfrm>
            <a:off x="713232" y="2761488"/>
            <a:ext cx="20116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8803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</a:t>
            </a:r>
            <a:endParaRPr lang="en-US" sz="745" dirty="0"/>
          </a:p>
        </p:txBody>
      </p:sp>
      <p:sp>
        <p:nvSpPr>
          <p:cNvPr id="28" name="Shape 26"/>
          <p:cNvSpPr/>
          <p:nvPr/>
        </p:nvSpPr>
        <p:spPr>
          <a:xfrm>
            <a:off x="2724912" y="2761488"/>
            <a:ext cx="43434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8064" y="288036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扫码支付</a:t>
            </a:r>
            <a:endParaRPr lang="en-US" sz="745" dirty="0"/>
          </a:p>
        </p:txBody>
      </p:sp>
      <p:sp>
        <p:nvSpPr>
          <p:cNvPr id="30" name="Shape 28"/>
          <p:cNvSpPr/>
          <p:nvPr/>
        </p:nvSpPr>
        <p:spPr>
          <a:xfrm>
            <a:off x="7068312" y="2761488"/>
            <a:ext cx="4389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1464" y="288036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扫码/网页支付</a:t>
            </a:r>
            <a:endParaRPr lang="en-US" sz="745" dirty="0"/>
          </a:p>
        </p:txBody>
      </p:sp>
      <p:sp>
        <p:nvSpPr>
          <p:cNvPr id="32" name="Shape 30"/>
          <p:cNvSpPr/>
          <p:nvPr/>
        </p:nvSpPr>
        <p:spPr>
          <a:xfrm>
            <a:off x="713232" y="3310128"/>
            <a:ext cx="201168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4290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 H5</a:t>
            </a:r>
            <a:endParaRPr lang="en-US" sz="745" dirty="0"/>
          </a:p>
        </p:txBody>
      </p:sp>
      <p:sp>
        <p:nvSpPr>
          <p:cNvPr id="34" name="Shape 32"/>
          <p:cNvSpPr/>
          <p:nvPr/>
        </p:nvSpPr>
        <p:spPr>
          <a:xfrm>
            <a:off x="2724912" y="3310128"/>
            <a:ext cx="434340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8064" y="342900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H5/微信内 JSAPI</a:t>
            </a:r>
            <a:endParaRPr lang="en-US" sz="745" dirty="0"/>
          </a:p>
        </p:txBody>
      </p:sp>
      <p:sp>
        <p:nvSpPr>
          <p:cNvPr id="36" name="Shape 34"/>
          <p:cNvSpPr/>
          <p:nvPr/>
        </p:nvSpPr>
        <p:spPr>
          <a:xfrm>
            <a:off x="7068312" y="3310128"/>
            <a:ext cx="438912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41464" y="342900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WAP 支付</a:t>
            </a:r>
            <a:endParaRPr lang="en-US" sz="745" dirty="0"/>
          </a:p>
        </p:txBody>
      </p:sp>
      <p:sp>
        <p:nvSpPr>
          <p:cNvPr id="38" name="Shape 36"/>
          <p:cNvSpPr/>
          <p:nvPr/>
        </p:nvSpPr>
        <p:spPr>
          <a:xfrm>
            <a:off x="713232" y="3858768"/>
            <a:ext cx="20116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397764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</a:t>
            </a:r>
            <a:endParaRPr lang="en-US" sz="745" dirty="0"/>
          </a:p>
        </p:txBody>
      </p:sp>
      <p:sp>
        <p:nvSpPr>
          <p:cNvPr id="40" name="Shape 38"/>
          <p:cNvSpPr/>
          <p:nvPr/>
        </p:nvSpPr>
        <p:spPr>
          <a:xfrm>
            <a:off x="2724912" y="3858768"/>
            <a:ext cx="43434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98064" y="397764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按子单/接收方请求分账并完结</a:t>
            </a:r>
            <a:endParaRPr lang="en-US" sz="745" dirty="0"/>
          </a:p>
        </p:txBody>
      </p:sp>
      <p:sp>
        <p:nvSpPr>
          <p:cNvPr id="42" name="Shape 40"/>
          <p:cNvSpPr/>
          <p:nvPr/>
        </p:nvSpPr>
        <p:spPr>
          <a:xfrm>
            <a:off x="7068312" y="3858768"/>
            <a:ext cx="4389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41464" y="397764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按直付通/交易结算能力执行</a:t>
            </a:r>
            <a:endParaRPr lang="en-US" sz="745" dirty="0"/>
          </a:p>
        </p:txBody>
      </p:sp>
      <p:sp>
        <p:nvSpPr>
          <p:cNvPr id="44" name="Shape 42"/>
          <p:cNvSpPr/>
          <p:nvPr/>
        </p:nvSpPr>
        <p:spPr>
          <a:xfrm>
            <a:off x="713232" y="4407408"/>
            <a:ext cx="201168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" y="45262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</a:t>
            </a:r>
            <a:endParaRPr lang="en-US" sz="745" dirty="0"/>
          </a:p>
        </p:txBody>
      </p:sp>
      <p:sp>
        <p:nvSpPr>
          <p:cNvPr id="46" name="Shape 44"/>
          <p:cNvSpPr/>
          <p:nvPr/>
        </p:nvSpPr>
        <p:spPr>
          <a:xfrm>
            <a:off x="2724912" y="4407408"/>
            <a:ext cx="434340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98064" y="4526280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交易账单、资金账单、分账账单</a:t>
            </a:r>
            <a:endParaRPr lang="en-US" sz="745" dirty="0"/>
          </a:p>
        </p:txBody>
      </p:sp>
      <p:sp>
        <p:nvSpPr>
          <p:cNvPr id="48" name="Shape 46"/>
          <p:cNvSpPr/>
          <p:nvPr/>
        </p:nvSpPr>
        <p:spPr>
          <a:xfrm>
            <a:off x="7068312" y="4407408"/>
            <a:ext cx="4389120" cy="548640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41464" y="4526280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交易账单、资金流水、结算相关账单</a:t>
            </a:r>
            <a:endParaRPr lang="en-US" sz="74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D36"/>
          </a:solidFill>
          <a:ln w="12700">
            <a:solidFill>
              <a:srgbClr val="1F3D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9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A8. 对账异常类型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E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19672"/>
            <a:ext cx="411480" cy="219456"/>
          </a:xfrm>
          <a:prstGeom prst="rect">
            <a:avLst/>
          </a:prstGeom>
          <a:solidFill>
            <a:srgbClr val="D49B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3D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024128"/>
            <a:ext cx="233172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14300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2971800" y="1024128"/>
            <a:ext cx="297180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143000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5943600" y="1024128"/>
            <a:ext cx="297180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1143000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处理策略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8915400" y="1024128"/>
            <a:ext cx="2651760" cy="530352"/>
          </a:xfrm>
          <a:prstGeom prst="rect">
            <a:avLst/>
          </a:prstGeom>
          <a:solidFill>
            <a:srgbClr val="1F3D36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8552" y="114300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40080" y="1554480"/>
            <a:ext cx="23317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67335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渠道成功本地失败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2971800" y="1554480"/>
            <a:ext cx="2971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1673352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账单成功，本地 WAIT_PAY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5943600" y="1554480"/>
            <a:ext cx="2971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1673352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订单仍有效时补单，否则异常退款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8915400" y="1554480"/>
            <a:ext cx="26517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167335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640080" y="2084832"/>
            <a:ext cx="233172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20370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本地成功渠道无记录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2971800" y="2084832"/>
            <a:ext cx="29718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4952" y="2203704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PAID，渠道无成功交易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5943600" y="2084832"/>
            <a:ext cx="29718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203704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查询渠道，必要时回滚/人工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8915400" y="2084832"/>
            <a:ext cx="26517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88552" y="220370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640080" y="2615184"/>
            <a:ext cx="23317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2734056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金额不一致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2971800" y="2615184"/>
            <a:ext cx="2971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44952" y="2734056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本地金额 != 渠道金额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5943600" y="2615184"/>
            <a:ext cx="2971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2734056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禁止自动修复，人工核查</a:t>
            </a:r>
            <a:endParaRPr lang="en-US" sz="710" dirty="0"/>
          </a:p>
        </p:txBody>
      </p:sp>
      <p:sp>
        <p:nvSpPr>
          <p:cNvPr id="38" name="Shape 36"/>
          <p:cNvSpPr/>
          <p:nvPr/>
        </p:nvSpPr>
        <p:spPr>
          <a:xfrm>
            <a:off x="8915400" y="2615184"/>
            <a:ext cx="26517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88552" y="273405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640080" y="3145536"/>
            <a:ext cx="233172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3264408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退款不同步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2971800" y="3145536"/>
            <a:ext cx="29718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44952" y="326440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退款状态或金额不一致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5943600" y="3145536"/>
            <a:ext cx="29718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16752" y="326440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安全场景自动更新，否则人工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8915400" y="3145536"/>
            <a:ext cx="26517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88552" y="326440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640080" y="3675888"/>
            <a:ext cx="23317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379476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分账失败</a:t>
            </a:r>
            <a:endParaRPr lang="en-US" sz="710" dirty="0"/>
          </a:p>
        </p:txBody>
      </p:sp>
      <p:sp>
        <p:nvSpPr>
          <p:cNvPr id="50" name="Shape 48"/>
          <p:cNvSpPr/>
          <p:nvPr/>
        </p:nvSpPr>
        <p:spPr>
          <a:xfrm>
            <a:off x="2971800" y="3675888"/>
            <a:ext cx="2971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44952" y="3794760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渠道失败，本地处理中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5943600" y="3675888"/>
            <a:ext cx="2971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16752" y="3794760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自动重试，超限人工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8915400" y="3675888"/>
            <a:ext cx="26517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88552" y="37947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10" dirty="0"/>
          </a:p>
        </p:txBody>
      </p:sp>
      <p:sp>
        <p:nvSpPr>
          <p:cNvPr id="56" name="Shape 54"/>
          <p:cNvSpPr/>
          <p:nvPr/>
        </p:nvSpPr>
        <p:spPr>
          <a:xfrm>
            <a:off x="640080" y="4206240"/>
            <a:ext cx="233172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" y="4325112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接收方不一致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2971800" y="4206240"/>
            <a:ext cx="29718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44952" y="4325112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分账接收方与本地不同</a:t>
            </a:r>
            <a:endParaRPr lang="en-US" sz="710" dirty="0"/>
          </a:p>
        </p:txBody>
      </p:sp>
      <p:sp>
        <p:nvSpPr>
          <p:cNvPr id="60" name="Shape 58"/>
          <p:cNvSpPr/>
          <p:nvPr/>
        </p:nvSpPr>
        <p:spPr>
          <a:xfrm>
            <a:off x="5943600" y="4206240"/>
            <a:ext cx="297180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16752" y="4325112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冻结后续分账，人工核查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8915400" y="4206240"/>
            <a:ext cx="2651760" cy="530352"/>
          </a:xfrm>
          <a:prstGeom prst="rect">
            <a:avLst/>
          </a:prstGeom>
          <a:solidFill>
            <a:srgbClr val="F8FAF7"/>
          </a:solidFill>
          <a:ln w="7620">
            <a:solidFill>
              <a:srgbClr val="C9D9D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88552" y="43251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F3D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Forest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多商家商城业务架构设计方案</dc:title>
  <dc:subject>B2B multi-merchant mall architecture</dc:subject>
  <dc:creator>Forest / Codex</dc:creator>
  <cp:lastModifiedBy>Forest / Codex</cp:lastModifiedBy>
  <cp:revision>1</cp:revision>
  <dcterms:created xsi:type="dcterms:W3CDTF">2026-05-03T03:35:39Z</dcterms:created>
  <dcterms:modified xsi:type="dcterms:W3CDTF">2026-05-03T03:35:39Z</dcterms:modified>
</cp:coreProperties>
</file>