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B344F"/>
          </a:solidFill>
          <a:ln w="12700">
            <a:solidFill>
              <a:srgbClr val="1B34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960120"/>
            <a:ext cx="1417320" cy="301752"/>
          </a:xfrm>
          <a:prstGeom prst="roundRect">
            <a:avLst>
              <a:gd name="adj" fmla="val 36364"/>
            </a:avLst>
          </a:prstGeom>
          <a:solidFill>
            <a:srgbClr val="203C59"/>
          </a:solidFill>
          <a:ln w="10160">
            <a:solidFill>
              <a:srgbClr val="1D9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38744" y="1037844"/>
            <a:ext cx="1307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功能模板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10012680" y="960120"/>
            <a:ext cx="1417320" cy="301752"/>
          </a:xfrm>
          <a:prstGeom prst="roundRect">
            <a:avLst>
              <a:gd name="adj" fmla="val 36364"/>
            </a:avLst>
          </a:prstGeom>
          <a:solidFill>
            <a:srgbClr val="203C59"/>
          </a:solidFill>
          <a:ln w="10160">
            <a:solidFill>
              <a:srgbClr val="F08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67544" y="1037844"/>
            <a:ext cx="1307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08A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LangGraph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8183880" y="1709928"/>
            <a:ext cx="1417320" cy="301752"/>
          </a:xfrm>
          <a:prstGeom prst="roundRect">
            <a:avLst>
              <a:gd name="adj" fmla="val 36364"/>
            </a:avLst>
          </a:prstGeom>
          <a:solidFill>
            <a:srgbClr val="203C59"/>
          </a:solidFill>
          <a:ln w="10160">
            <a:solidFill>
              <a:srgbClr val="1D9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38744" y="1787652"/>
            <a:ext cx="1307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父子任务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10012680" y="1709928"/>
            <a:ext cx="1417320" cy="301752"/>
          </a:xfrm>
          <a:prstGeom prst="roundRect">
            <a:avLst>
              <a:gd name="adj" fmla="val 36364"/>
            </a:avLst>
          </a:prstGeom>
          <a:solidFill>
            <a:srgbClr val="203C59"/>
          </a:solidFill>
          <a:ln w="10160">
            <a:solidFill>
              <a:srgbClr val="F08A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67544" y="1787652"/>
            <a:ext cx="1307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08A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会员权益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8183880" y="2459736"/>
            <a:ext cx="1417320" cy="301752"/>
          </a:xfrm>
          <a:prstGeom prst="roundRect">
            <a:avLst>
              <a:gd name="adj" fmla="val 36364"/>
            </a:avLst>
          </a:prstGeom>
          <a:solidFill>
            <a:srgbClr val="203C59"/>
          </a:solidFill>
          <a:ln w="10160">
            <a:solidFill>
              <a:srgbClr val="1D9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2537460"/>
            <a:ext cx="1307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OSS资产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0012680" y="2459736"/>
            <a:ext cx="1417320" cy="301752"/>
          </a:xfrm>
          <a:prstGeom prst="roundRect">
            <a:avLst>
              <a:gd name="adj" fmla="val 36364"/>
            </a:avLst>
          </a:prstGeom>
          <a:solidFill>
            <a:srgbClr val="203C59"/>
          </a:solidFill>
          <a:ln w="10160">
            <a:solidFill>
              <a:srgbClr val="F08A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67544" y="2537460"/>
            <a:ext cx="1307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08A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营销分账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658368" y="141732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85800" y="221284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DD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架构总纲 / 详尽方案 PPT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4944" y="290779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CE8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AI 工具集合，升级为可配置、可运营、可商业化的内容生产平台。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3232" y="43891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5层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13232" y="49194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总体架构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31720" y="438912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08A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331720" y="49194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核心模块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06240" y="43891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4期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206240" y="4919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实施路线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3232" y="5989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8B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2026-05-04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/ 核心判断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一个商业化内容生产平台，而不是工具列表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DDF7F2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417320"/>
            <a:ext cx="73152" cy="329184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581912"/>
            <a:ext cx="329184" cy="329184"/>
          </a:xfrm>
          <a:prstGeom prst="ellipse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4592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133856" y="1581912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前台体验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8096" y="1929384"/>
            <a:ext cx="238658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PC 创作端以任务、项目和功能入口为中心，服务文案、图片、视频、爆款、小说、短剧。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3611880" y="1417320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EFE9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11880" y="1417320"/>
            <a:ext cx="73152" cy="3291840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58184" y="1581912"/>
            <a:ext cx="329184" cy="329184"/>
          </a:xfrm>
          <a:prstGeom prst="ellipse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58184" y="164592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4178808" y="1581912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生产中台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13048" y="1929384"/>
            <a:ext cx="238658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模板、LangGraph、父子任务、模型路由、连续性和调用日志组成可扩展生产引擎。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6656832" y="1417320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FFF0E6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56832" y="1417320"/>
            <a:ext cx="73152" cy="329184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1581912"/>
            <a:ext cx="329184" cy="329184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64592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7223760" y="1581912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交易增长闭环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0" y="1929384"/>
            <a:ext cx="238658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会员权益、充值支付、营销中心、佣金分账共同支撑付费、增长和渠道分润。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9701784" y="141732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EAF7ED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01784" y="1417320"/>
            <a:ext cx="73152" cy="3291840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48088" y="1581912"/>
            <a:ext cx="329184" cy="329184"/>
          </a:xfrm>
          <a:prstGeom prst="ellipse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48088" y="164592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10268712" y="1581912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902952" y="1929384"/>
            <a:ext cx="1517904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资产、风控、通知、审计、报表让平台长期可运营。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1600200" y="5230368"/>
            <a:ext cx="9006840" cy="585216"/>
          </a:xfrm>
          <a:prstGeom prst="roundRect">
            <a:avLst>
              <a:gd name="adj" fmla="val 21875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74520" y="5413248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关键设计：AI 能力可调度，内容资产可沉淀，会员交易可计费，营销返佣可结算，后台运营可追踪。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/ 产品边界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产品范围：两端、四类用户、六条生产线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1261872"/>
            <a:ext cx="2423160" cy="43434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261872"/>
            <a:ext cx="73152" cy="434340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26464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PC 创作端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9536" y="1773936"/>
            <a:ext cx="2020824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首页工作台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AI创作中心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爆款拆解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图文小说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短剧创作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任务中心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项目中心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营销中心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充值中心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310128" y="1261872"/>
            <a:ext cx="2423160" cy="43434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261872"/>
            <a:ext cx="73152" cy="4343400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1426464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后台管理端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11296" y="1773936"/>
            <a:ext cx="2020824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AI能力管理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功能模板管理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生成任务管理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内容资产管理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会员权益管理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营销/佣金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风控/审计/报表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EAF7F4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261872"/>
            <a:ext cx="73152" cy="749808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1426464"/>
            <a:ext cx="4855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内容运营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373368" y="1773936"/>
            <a:ext cx="485546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文案、图片、视频、办公内容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6172200" y="2249424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FFF2E9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2249424"/>
            <a:ext cx="73152" cy="749808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2414016"/>
            <a:ext cx="4855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短视频团队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6373368" y="2761488"/>
            <a:ext cx="485546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爆款拆解、话术、镜头、短剧分镜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6172200" y="3236976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F0EB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236976"/>
            <a:ext cx="73152" cy="749808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3401568"/>
            <a:ext cx="4855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小说/短剧创作者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6373368" y="3749040"/>
            <a:ext cx="485546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长内容项目、连续性、批量生成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6172200" y="4224528"/>
            <a:ext cx="5257800" cy="749808"/>
          </a:xfrm>
          <a:prstGeom prst="roundRect">
            <a:avLst>
              <a:gd name="adj" fmla="val 9756"/>
            </a:avLst>
          </a:prstGeom>
          <a:solidFill>
            <a:srgbClr val="EBF7E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4224528"/>
            <a:ext cx="73152" cy="749808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4389120"/>
            <a:ext cx="4855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平台运营/财务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373368" y="4736592"/>
            <a:ext cx="485546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模板、模型、充值、营销、结算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6172200" y="52303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生产线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12280" y="5175504"/>
            <a:ext cx="566928" cy="30175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0160">
            <a:solidFill>
              <a:srgbClr val="2632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67144" y="525322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文案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7525512" y="5175504"/>
            <a:ext cx="566928" cy="30175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0160">
            <a:solidFill>
              <a:srgbClr val="2632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0376" y="525322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图片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8238744" y="5175504"/>
            <a:ext cx="566928" cy="30175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0160">
            <a:solidFill>
              <a:srgbClr val="2632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93608" y="525322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视频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8951976" y="5175504"/>
            <a:ext cx="566928" cy="30175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0160">
            <a:solidFill>
              <a:srgbClr val="2632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06840" y="525322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音频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9665208" y="5175504"/>
            <a:ext cx="566928" cy="30175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0160">
            <a:solidFill>
              <a:srgbClr val="2632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20072" y="525322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办公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10378440" y="5175504"/>
            <a:ext cx="566928" cy="30175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0160">
            <a:solidFill>
              <a:srgbClr val="2632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33304" y="525322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长内容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/ 总体架构图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调整后的模块与依赖关系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30352" y="1124712"/>
            <a:ext cx="11119104" cy="5230368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  <a:effectLst>
            <a:outerShdw sx="100000" sy="100000" kx="0" ky="0" algn="bl" rotWithShape="0" blurRad="17780" dist="12700" dir="2700000">
              <a:srgbClr val="000000">
                <a:alpha val="7000"/>
              </a:srgbClr>
            </a:outerShdw>
          </a:effectLst>
        </p:spPr>
      </p:sp>
      <p:pic>
        <p:nvPicPr>
          <p:cNvPr id="7" name="Image 0" descr="/Users/lgd/project/forest/docs/diagrams/ai-content-generation-platform-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61872"/>
            <a:ext cx="10808208" cy="4974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/ 分层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五层架构：依赖方向要清晰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97280" y="1225296"/>
            <a:ext cx="9921240" cy="694944"/>
          </a:xfrm>
          <a:prstGeom prst="roundRect">
            <a:avLst>
              <a:gd name="adj" fmla="val 13158"/>
            </a:avLst>
          </a:prstGeom>
          <a:solidFill>
            <a:srgbClr val="EAF2FF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4081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3A7B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产品入口层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3456432" y="1426464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PC创作端 / 后台管理端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080760" y="1938528"/>
            <a:ext cx="0" cy="201168"/>
          </a:xfrm>
          <a:prstGeom prst="line">
            <a:avLst/>
          </a:prstGeom>
          <a:noFill/>
          <a:ln w="889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97280" y="2157984"/>
            <a:ext cx="9921240" cy="694944"/>
          </a:xfrm>
          <a:prstGeom prst="roundRect">
            <a:avLst>
              <a:gd name="adj" fmla="val 13158"/>
            </a:avLst>
          </a:prstGeom>
          <a:solidFill>
            <a:srgbClr val="DDF7F2"/>
          </a:solidFill>
          <a:ln w="12700">
            <a:solidFill>
              <a:srgbClr val="1D9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3408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业务应用层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3456432" y="2359152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AI创作 / 爆款拆解 / 图文小说 / 短剧 / 营销 / 充值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080760" y="2871216"/>
            <a:ext cx="0" cy="201168"/>
          </a:xfrm>
          <a:prstGeom prst="line">
            <a:avLst/>
          </a:prstGeom>
          <a:noFill/>
          <a:ln w="889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97280" y="3090672"/>
            <a:ext cx="9921240" cy="694944"/>
          </a:xfrm>
          <a:prstGeom prst="roundRect">
            <a:avLst>
              <a:gd name="adj" fmla="val 13158"/>
            </a:avLst>
          </a:prstGeom>
          <a:solidFill>
            <a:srgbClr val="EFE9FF"/>
          </a:solidFill>
          <a:ln w="12700">
            <a:solidFill>
              <a:srgbClr val="7752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2735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7752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AI生产中台层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3456432" y="3291840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功能模板 / LangGraph / 生成任务 / 连续性 / 模型路由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080760" y="3803904"/>
            <a:ext cx="0" cy="201168"/>
          </a:xfrm>
          <a:prstGeom prst="line">
            <a:avLst/>
          </a:prstGeom>
          <a:noFill/>
          <a:ln w="889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97280" y="4023360"/>
            <a:ext cx="9921240" cy="694944"/>
          </a:xfrm>
          <a:prstGeom prst="roundRect">
            <a:avLst>
              <a:gd name="adj" fmla="val 13158"/>
            </a:avLst>
          </a:prstGeom>
          <a:solidFill>
            <a:srgbClr val="FFF0E6"/>
          </a:solidFill>
          <a:ln w="12700">
            <a:solidFill>
              <a:srgbClr val="F08A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42062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08A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资产与会员交易层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3456432" y="4224528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用户权限 / 内容资产 / 会员权益 / 支付 / 佣金 / 风控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080760" y="4736592"/>
            <a:ext cx="0" cy="201168"/>
          </a:xfrm>
          <a:prstGeom prst="line">
            <a:avLst/>
          </a:prstGeom>
          <a:noFill/>
          <a:ln w="889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97280" y="4956048"/>
            <a:ext cx="9921240" cy="694944"/>
          </a:xfrm>
          <a:prstGeom prst="roundRect">
            <a:avLst>
              <a:gd name="adj" fmla="val 13158"/>
            </a:avLst>
          </a:prstGeom>
          <a:solidFill>
            <a:srgbClr val="EAF7ED"/>
          </a:solidFill>
          <a:ln w="12700">
            <a:solidFill>
              <a:srgbClr val="4E9F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51389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4E9F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基础设施层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3456432" y="5157216"/>
            <a:ext cx="7086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OSS / 数据库 / Worker / 模型供应商 / 微信支付宝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58368" y="5989320"/>
            <a:ext cx="108813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5989320"/>
            <a:ext cx="73152" cy="438912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6153912"/>
            <a:ext cx="10479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依赖原则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59536" y="6501384"/>
            <a:ext cx="10479024" cy="-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上层通过稳定接口调用下层；业务功能不直连模型，文件不散落业务表，营销不直连模型路由。</a:t>
            </a:r>
            <a:endParaRPr lang="en-US" sz="8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3785616" cy="68580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731520"/>
            <a:ext cx="3108960" cy="3108960"/>
          </a:xfrm>
          <a:prstGeom prst="arc">
            <a:avLst/>
          </a:prstGeom>
          <a:solidFill>
            <a:srgbClr val="132238">
              <a:alpha val="0"/>
            </a:srgbClr>
          </a:solidFill>
          <a:ln w="38100">
            <a:solidFill>
              <a:srgbClr val="1D9A8A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931920"/>
            <a:ext cx="2194560" cy="2194560"/>
          </a:xfrm>
          <a:prstGeom prst="arc">
            <a:avLst/>
          </a:prstGeom>
          <a:solidFill>
            <a:srgbClr val="132238">
              <a:alpha val="0"/>
            </a:srgbClr>
          </a:solidFill>
          <a:ln w="25400">
            <a:solidFill>
              <a:srgbClr val="F08A4B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4028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核心模块设计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04088" y="31546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DD7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从模型能力、模板、工作流、任务和连续性建立生产中台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5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5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/ 模块清单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核心模块地图：12 个业务中枢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298448"/>
            <a:ext cx="73152" cy="950976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463040"/>
            <a:ext cx="329184" cy="329184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5270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225296" y="14630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用户与权限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859536" y="1810512"/>
            <a:ext cx="21396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账号、后台角色、企业预留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3493008" y="129844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93008" y="1298448"/>
            <a:ext cx="73152" cy="950976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9312" y="1463040"/>
            <a:ext cx="329184" cy="329184"/>
          </a:xfrm>
          <a:prstGeom prst="ellipse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15270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4059936" y="14630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AI能力中心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3694176" y="1810512"/>
            <a:ext cx="21396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供应商、模型、路由、日志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6327648" y="129844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27648" y="1298448"/>
            <a:ext cx="73152" cy="950976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1463040"/>
            <a:ext cx="329184" cy="329184"/>
          </a:xfrm>
          <a:prstGeom prst="ellipse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15270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6894576" y="14630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功能模板中心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6528816" y="1810512"/>
            <a:ext cx="21396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输入、Prompt、输出、消耗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9162288" y="1298448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62288" y="1298448"/>
            <a:ext cx="73152" cy="950976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08592" y="1463040"/>
            <a:ext cx="329184" cy="329184"/>
          </a:xfrm>
          <a:prstGeom prst="ellipse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08592" y="15270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9729216" y="14630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LangGraph内核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9363456" y="1810512"/>
            <a:ext cx="21396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AI步骤编排与checkpoint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658368" y="2633472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8368" y="2633472"/>
            <a:ext cx="73152" cy="950976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" y="2798064"/>
            <a:ext cx="329184" cy="329184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2862072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1225296" y="279806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生成任务中心</a:t>
            </a:r>
            <a:endParaRPr lang="en-US" sz="1060" dirty="0"/>
          </a:p>
        </p:txBody>
      </p:sp>
      <p:sp>
        <p:nvSpPr>
          <p:cNvPr id="35" name="Text 33"/>
          <p:cNvSpPr/>
          <p:nvPr/>
        </p:nvSpPr>
        <p:spPr>
          <a:xfrm>
            <a:off x="859536" y="3145536"/>
            <a:ext cx="21396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父子任务、进度、重试</a:t>
            </a:r>
            <a:endParaRPr lang="en-US" sz="770" dirty="0"/>
          </a:p>
        </p:txBody>
      </p:sp>
      <p:sp>
        <p:nvSpPr>
          <p:cNvPr id="36" name="Shape 34"/>
          <p:cNvSpPr/>
          <p:nvPr/>
        </p:nvSpPr>
        <p:spPr>
          <a:xfrm>
            <a:off x="3493008" y="2633472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93008" y="2633472"/>
            <a:ext cx="73152" cy="950976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39312" y="2798064"/>
            <a:ext cx="329184" cy="329184"/>
          </a:xfrm>
          <a:prstGeom prst="ellipse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39312" y="2862072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059936" y="279806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连续性中心</a:t>
            </a:r>
            <a:endParaRPr lang="en-US" sz="1060" dirty="0"/>
          </a:p>
        </p:txBody>
      </p:sp>
      <p:sp>
        <p:nvSpPr>
          <p:cNvPr id="41" name="Text 39"/>
          <p:cNvSpPr/>
          <p:nvPr/>
        </p:nvSpPr>
        <p:spPr>
          <a:xfrm>
            <a:off x="3694176" y="3145536"/>
            <a:ext cx="21396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人物、关系、伏笔、时间线</a:t>
            </a:r>
            <a:endParaRPr lang="en-US" sz="770" dirty="0"/>
          </a:p>
        </p:txBody>
      </p:sp>
      <p:sp>
        <p:nvSpPr>
          <p:cNvPr id="42" name="Shape 40"/>
          <p:cNvSpPr/>
          <p:nvPr/>
        </p:nvSpPr>
        <p:spPr>
          <a:xfrm>
            <a:off x="6327648" y="2633472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27648" y="2633472"/>
            <a:ext cx="73152" cy="950976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73952" y="2798064"/>
            <a:ext cx="329184" cy="329184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2862072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894576" y="279806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内容资产中心</a:t>
            </a:r>
            <a:endParaRPr lang="en-US" sz="1060" dirty="0"/>
          </a:p>
        </p:txBody>
      </p:sp>
      <p:sp>
        <p:nvSpPr>
          <p:cNvPr id="47" name="Text 45"/>
          <p:cNvSpPr/>
          <p:nvPr/>
        </p:nvSpPr>
        <p:spPr>
          <a:xfrm>
            <a:off x="6528816" y="3145536"/>
            <a:ext cx="21396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OSS、签名URL、生命周期</a:t>
            </a:r>
            <a:endParaRPr lang="en-US" sz="770" dirty="0"/>
          </a:p>
        </p:txBody>
      </p:sp>
      <p:sp>
        <p:nvSpPr>
          <p:cNvPr id="48" name="Shape 46"/>
          <p:cNvSpPr/>
          <p:nvPr/>
        </p:nvSpPr>
        <p:spPr>
          <a:xfrm>
            <a:off x="9162288" y="2633472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162288" y="2633472"/>
            <a:ext cx="73152" cy="950976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08592" y="2798064"/>
            <a:ext cx="329184" cy="329184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08592" y="2862072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9729216" y="279806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会员权益中心</a:t>
            </a:r>
            <a:endParaRPr lang="en-US" sz="1060" dirty="0"/>
          </a:p>
        </p:txBody>
      </p:sp>
      <p:sp>
        <p:nvSpPr>
          <p:cNvPr id="53" name="Text 51"/>
          <p:cNvSpPr/>
          <p:nvPr/>
        </p:nvSpPr>
        <p:spPr>
          <a:xfrm>
            <a:off x="9363456" y="3145536"/>
            <a:ext cx="21396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点数、会员、额度、容量</a:t>
            </a:r>
            <a:endParaRPr lang="en-US" sz="770" dirty="0"/>
          </a:p>
        </p:txBody>
      </p:sp>
      <p:sp>
        <p:nvSpPr>
          <p:cNvPr id="54" name="Shape 52"/>
          <p:cNvSpPr/>
          <p:nvPr/>
        </p:nvSpPr>
        <p:spPr>
          <a:xfrm>
            <a:off x="658368" y="3968496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58368" y="3968496"/>
            <a:ext cx="73152" cy="950976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4672" y="4133088"/>
            <a:ext cx="329184" cy="329184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4672" y="4197096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1225296" y="413308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充值支付</a:t>
            </a:r>
            <a:endParaRPr lang="en-US" sz="1060" dirty="0"/>
          </a:p>
        </p:txBody>
      </p:sp>
      <p:sp>
        <p:nvSpPr>
          <p:cNvPr id="59" name="Text 57"/>
          <p:cNvSpPr/>
          <p:nvPr/>
        </p:nvSpPr>
        <p:spPr>
          <a:xfrm>
            <a:off x="859536" y="4480560"/>
            <a:ext cx="21396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订单、支付、回调、退款预留</a:t>
            </a:r>
            <a:endParaRPr lang="en-US" sz="770" dirty="0"/>
          </a:p>
        </p:txBody>
      </p:sp>
      <p:sp>
        <p:nvSpPr>
          <p:cNvPr id="60" name="Shape 58"/>
          <p:cNvSpPr/>
          <p:nvPr/>
        </p:nvSpPr>
        <p:spPr>
          <a:xfrm>
            <a:off x="3493008" y="3968496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493008" y="3968496"/>
            <a:ext cx="73152" cy="950976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39312" y="4133088"/>
            <a:ext cx="329184" cy="329184"/>
          </a:xfrm>
          <a:prstGeom prst="ellipse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39312" y="4197096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4059936" y="413308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营销中心</a:t>
            </a:r>
            <a:endParaRPr lang="en-US" sz="1060" dirty="0"/>
          </a:p>
        </p:txBody>
      </p:sp>
      <p:sp>
        <p:nvSpPr>
          <p:cNvPr id="65" name="Text 63"/>
          <p:cNvSpPr/>
          <p:nvPr/>
        </p:nvSpPr>
        <p:spPr>
          <a:xfrm>
            <a:off x="3694176" y="4480560"/>
            <a:ext cx="21396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邀请、优惠券、活动、渠道</a:t>
            </a:r>
            <a:endParaRPr lang="en-US" sz="770" dirty="0"/>
          </a:p>
        </p:txBody>
      </p:sp>
      <p:sp>
        <p:nvSpPr>
          <p:cNvPr id="66" name="Shape 64"/>
          <p:cNvSpPr/>
          <p:nvPr/>
        </p:nvSpPr>
        <p:spPr>
          <a:xfrm>
            <a:off x="6327648" y="3968496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327648" y="3968496"/>
            <a:ext cx="73152" cy="950976"/>
          </a:xfrm>
          <a:prstGeom prst="rect">
            <a:avLst/>
          </a:prstGeom>
          <a:solidFill>
            <a:srgbClr val="D99D2B"/>
          </a:solidFill>
          <a:ln w="12700">
            <a:solidFill>
              <a:srgbClr val="D99D2B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73952" y="4133088"/>
            <a:ext cx="329184" cy="329184"/>
          </a:xfrm>
          <a:prstGeom prst="ellipse">
            <a:avLst/>
          </a:prstGeom>
          <a:solidFill>
            <a:srgbClr val="D99D2B"/>
          </a:solidFill>
          <a:ln w="12700">
            <a:solidFill>
              <a:srgbClr val="D99D2B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73952" y="4197096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720" dirty="0"/>
          </a:p>
        </p:txBody>
      </p:sp>
      <p:sp>
        <p:nvSpPr>
          <p:cNvPr id="70" name="Text 68"/>
          <p:cNvSpPr/>
          <p:nvPr/>
        </p:nvSpPr>
        <p:spPr>
          <a:xfrm>
            <a:off x="6894576" y="413308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佣金分账</a:t>
            </a:r>
            <a:endParaRPr lang="en-US" sz="1060" dirty="0"/>
          </a:p>
        </p:txBody>
      </p:sp>
      <p:sp>
        <p:nvSpPr>
          <p:cNvPr id="71" name="Text 69"/>
          <p:cNvSpPr/>
          <p:nvPr/>
        </p:nvSpPr>
        <p:spPr>
          <a:xfrm>
            <a:off x="6528816" y="4480560"/>
            <a:ext cx="21396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返佣、冻结、提现、分账</a:t>
            </a:r>
            <a:endParaRPr lang="en-US" sz="770" dirty="0"/>
          </a:p>
        </p:txBody>
      </p:sp>
      <p:sp>
        <p:nvSpPr>
          <p:cNvPr id="72" name="Shape 70"/>
          <p:cNvSpPr/>
          <p:nvPr/>
        </p:nvSpPr>
        <p:spPr>
          <a:xfrm>
            <a:off x="9162288" y="3968496"/>
            <a:ext cx="2542032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9162288" y="3968496"/>
            <a:ext cx="73152" cy="950976"/>
          </a:xfrm>
          <a:prstGeom prst="rect">
            <a:avLst/>
          </a:prstGeom>
          <a:solidFill>
            <a:srgbClr val="D85A5A"/>
          </a:solidFill>
          <a:ln w="12700">
            <a:solidFill>
              <a:srgbClr val="D85A5A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308592" y="4133088"/>
            <a:ext cx="329184" cy="329184"/>
          </a:xfrm>
          <a:prstGeom prst="ellipse">
            <a:avLst/>
          </a:prstGeom>
          <a:solidFill>
            <a:srgbClr val="D85A5A"/>
          </a:solidFill>
          <a:ln w="12700">
            <a:solidFill>
              <a:srgbClr val="D85A5A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308592" y="4197096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9729216" y="413308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风控审计报表</a:t>
            </a:r>
            <a:endParaRPr lang="en-US" sz="1060" dirty="0"/>
          </a:p>
        </p:txBody>
      </p:sp>
      <p:sp>
        <p:nvSpPr>
          <p:cNvPr id="77" name="Text 75"/>
          <p:cNvSpPr/>
          <p:nvPr/>
        </p:nvSpPr>
        <p:spPr>
          <a:xfrm>
            <a:off x="9363456" y="4480560"/>
            <a:ext cx="21396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内容安全、成本、ROI、日志</a:t>
            </a:r>
            <a:endParaRPr lang="en-US" sz="7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/ AI能力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能力中心：把供应商差异收敛起来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21792" y="1325880"/>
            <a:ext cx="2880360" cy="4480560"/>
          </a:xfrm>
          <a:prstGeom prst="roundRect">
            <a:avLst>
              <a:gd name="adj" fmla="val 2540"/>
            </a:avLst>
          </a:prstGeom>
          <a:solidFill>
            <a:srgbClr val="EFE9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325880"/>
            <a:ext cx="73152" cy="4480560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90472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供应商 Provider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1837944"/>
            <a:ext cx="2478024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Google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阿里云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豆包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OpenAI兼容预留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后台录入密钥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服务端加密存储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启停写审计日志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11880" y="3566160"/>
            <a:ext cx="640080" cy="0"/>
          </a:xfrm>
          <a:prstGeom prst="line">
            <a:avLst/>
          </a:prstGeom>
          <a:noFill/>
          <a:ln w="15240">
            <a:solidFill>
              <a:srgbClr val="7752C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3400" y="1325880"/>
            <a:ext cx="2880360" cy="4480560"/>
          </a:xfrm>
          <a:prstGeom prst="roundRect">
            <a:avLst>
              <a:gd name="adj" fmla="val 2540"/>
            </a:avLst>
          </a:prstGeom>
          <a:solidFill>
            <a:srgbClr val="DDF7F2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325880"/>
            <a:ext cx="73152" cy="448056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1490472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 Model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44568" y="1837944"/>
            <a:ext cx="2478024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 / 图片 / 视频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 / ASR / 文档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 / Embedding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上下线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超时/并发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价格/成本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模型测试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33488" y="3566160"/>
            <a:ext cx="640080" cy="0"/>
          </a:xfrm>
          <a:prstGeom prst="line">
            <a:avLst/>
          </a:prstGeom>
          <a:noFill/>
          <a:ln w="15240">
            <a:solidFill>
              <a:srgbClr val="1D9A8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65008" y="1325880"/>
            <a:ext cx="3337560" cy="4480560"/>
          </a:xfrm>
          <a:prstGeom prst="roundRect">
            <a:avLst>
              <a:gd name="adj" fmla="val 2192"/>
            </a:avLst>
          </a:prstGeom>
          <a:solidFill>
            <a:srgbClr val="FFF0E6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65008" y="1325880"/>
            <a:ext cx="73152" cy="448056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149047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模型路由 Routing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66176" y="1837944"/>
            <a:ext cx="2935224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能力级默认路由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模板级覆盖路由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权重控制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失败兜底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熔断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路由快照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决策日志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62272" y="5989320"/>
            <a:ext cx="3520440" cy="301752"/>
          </a:xfrm>
          <a:prstGeom prst="roundRect">
            <a:avLst>
              <a:gd name="adj" fmla="val 36364"/>
            </a:avLst>
          </a:prstGeom>
          <a:solidFill>
            <a:srgbClr val="FFEAEA"/>
          </a:solidFill>
          <a:ln w="10160">
            <a:solidFill>
              <a:srgbClr val="D85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7136" y="6067044"/>
            <a:ext cx="3410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8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模型路由只负责 AI 调度控制，不是营销控制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/ 模板与工作流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模板决定“做什么”，工作流决定“怎么做”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00200"/>
            <a:ext cx="73152" cy="237744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1764792"/>
            <a:ext cx="329184" cy="329184"/>
          </a:xfrm>
          <a:prstGeom prst="ellipse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82880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252728" y="176479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功能模板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86968" y="2112264"/>
            <a:ext cx="1298448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朋友圈文案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图生视频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短剧分镜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468880" y="2788920"/>
            <a:ext cx="429768" cy="0"/>
          </a:xfrm>
          <a:prstGeom prst="line">
            <a:avLst/>
          </a:prstGeom>
          <a:noFill/>
          <a:ln w="1143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71800" y="160020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71800" y="1600200"/>
            <a:ext cx="73152" cy="23774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18104" y="1764792"/>
            <a:ext cx="329184" cy="329184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18104" y="182880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538728" y="176479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输入Schema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3172968" y="2112264"/>
            <a:ext cx="1298448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字段、素材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品牌资料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754880" y="2788920"/>
            <a:ext cx="429768" cy="0"/>
          </a:xfrm>
          <a:prstGeom prst="line">
            <a:avLst/>
          </a:prstGeom>
          <a:noFill/>
          <a:ln w="1143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57800" y="160020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57800" y="1600200"/>
            <a:ext cx="73152" cy="2377440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04104" y="1764792"/>
            <a:ext cx="329184" cy="329184"/>
          </a:xfrm>
          <a:prstGeom prst="ellipse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04104" y="182880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824728" y="176479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LangGraph工作流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5458968" y="2112264"/>
            <a:ext cx="1298448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节点、分支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人工确认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checkpoint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040880" y="2788920"/>
            <a:ext cx="429768" cy="0"/>
          </a:xfrm>
          <a:prstGeom prst="line">
            <a:avLst/>
          </a:prstGeom>
          <a:noFill/>
          <a:ln w="1143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543800" y="160020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43800" y="1600200"/>
            <a:ext cx="73152" cy="237744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90104" y="1764792"/>
            <a:ext cx="329184" cy="329184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0104" y="182880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8110728" y="176479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模型路由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7744968" y="2112264"/>
            <a:ext cx="1298448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选供应商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选模型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失败兜底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9326880" y="2788920"/>
            <a:ext cx="429768" cy="0"/>
          </a:xfrm>
          <a:prstGeom prst="line">
            <a:avLst/>
          </a:prstGeom>
          <a:noFill/>
          <a:ln w="1143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829800" y="160020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829800" y="1600200"/>
            <a:ext cx="73152" cy="2377440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76104" y="1764792"/>
            <a:ext cx="329184" cy="329184"/>
          </a:xfrm>
          <a:prstGeom prst="ellipse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76104" y="182880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10396728" y="176479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结果交付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10030968" y="2112264"/>
            <a:ext cx="1298448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文本/文件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资产入库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通知用户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960120" y="4800600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DDF7F2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0120" y="4800600"/>
            <a:ext cx="73152" cy="82296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1288" y="496519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模板管理内容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161288" y="5312664"/>
            <a:ext cx="29352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分类、名称、Prompt、输出格式、点数消耗、上下线、版本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4526280" y="4800600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EFE9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26280" y="4800600"/>
            <a:ext cx="73152" cy="822960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27448" y="496519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工作流管理内容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727448" y="5312664"/>
            <a:ext cx="29352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节点编排、LangGraph 配置、人工确认点、失败重试</a:t>
            </a:r>
            <a:endParaRPr lang="en-US" sz="810" dirty="0"/>
          </a:p>
        </p:txBody>
      </p:sp>
      <p:sp>
        <p:nvSpPr>
          <p:cNvPr id="48" name="Shape 46"/>
          <p:cNvSpPr/>
          <p:nvPr/>
        </p:nvSpPr>
        <p:spPr>
          <a:xfrm>
            <a:off x="8092440" y="480060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FFF0E6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92440" y="4800600"/>
            <a:ext cx="73152" cy="82296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93608" y="4965192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路由管理内容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293608" y="5312664"/>
            <a:ext cx="26609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权重、上下线、熔断、成本和供应商切换</a:t>
            </a:r>
            <a:endParaRPr lang="en-US" sz="8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/ LangGraph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LangGraph 的边界：AI 编排内核，不做平台任务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49808" y="1225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9F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LangGraph 负责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6520" y="1225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A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平台任务系统负责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6384" y="1682496"/>
            <a:ext cx="4206240" cy="411480"/>
          </a:xfrm>
          <a:prstGeom prst="roundRect">
            <a:avLst>
              <a:gd name="adj" fmla="val 17778"/>
            </a:avLst>
          </a:prstGeom>
          <a:solidFill>
            <a:srgbClr val="EAF7ED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1682496"/>
            <a:ext cx="73152" cy="411480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847088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AI步骤编排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786384" y="2340864"/>
            <a:ext cx="4206240" cy="411480"/>
          </a:xfrm>
          <a:prstGeom prst="roundRect">
            <a:avLst>
              <a:gd name="adj" fmla="val 17778"/>
            </a:avLst>
          </a:prstGeom>
          <a:solidFill>
            <a:srgbClr val="EAF7ED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2340864"/>
            <a:ext cx="73152" cy="411480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505456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 / 循环 / 子图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786384" y="2999232"/>
            <a:ext cx="4206240" cy="411480"/>
          </a:xfrm>
          <a:prstGeom prst="roundRect">
            <a:avLst>
              <a:gd name="adj" fmla="val 17778"/>
            </a:avLst>
          </a:prstGeom>
          <a:solidFill>
            <a:srgbClr val="EAF7ED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2999232"/>
            <a:ext cx="73152" cy="411480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163824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checkpoint 与恢复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786384" y="3657600"/>
            <a:ext cx="4206240" cy="411480"/>
          </a:xfrm>
          <a:prstGeom prst="roundRect">
            <a:avLst>
              <a:gd name="adj" fmla="val 17778"/>
            </a:avLst>
          </a:prstGeom>
          <a:solidFill>
            <a:srgbClr val="EAF7ED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3657600"/>
            <a:ext cx="73152" cy="411480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822192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人工确认节点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86384" y="4315968"/>
            <a:ext cx="4206240" cy="411480"/>
          </a:xfrm>
          <a:prstGeom prst="roundRect">
            <a:avLst>
              <a:gd name="adj" fmla="val 17778"/>
            </a:avLst>
          </a:prstGeom>
          <a:solidFill>
            <a:srgbClr val="EAF7ED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4315968"/>
            <a:ext cx="73152" cy="411480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480560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连续性检查流程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6446520" y="1682496"/>
            <a:ext cx="4480560" cy="411480"/>
          </a:xfrm>
          <a:prstGeom prst="roundRect">
            <a:avLst>
              <a:gd name="adj" fmla="val 17778"/>
            </a:avLst>
          </a:prstGeom>
          <a:solidFill>
            <a:srgbClr val="FFF0E6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1682496"/>
            <a:ext cx="73152" cy="41148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47688" y="1847088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用户任务中心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446520" y="2340864"/>
            <a:ext cx="4480560" cy="411480"/>
          </a:xfrm>
          <a:prstGeom prst="roundRect">
            <a:avLst>
              <a:gd name="adj" fmla="val 17778"/>
            </a:avLst>
          </a:prstGeom>
          <a:solidFill>
            <a:srgbClr val="FFF0E6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2340864"/>
            <a:ext cx="73152" cy="41148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7688" y="2505456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父子任务业务进度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6446520" y="2999232"/>
            <a:ext cx="4480560" cy="411480"/>
          </a:xfrm>
          <a:prstGeom prst="roundRect">
            <a:avLst>
              <a:gd name="adj" fmla="val 17778"/>
            </a:avLst>
          </a:prstGeom>
          <a:solidFill>
            <a:srgbClr val="FFF0E6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2999232"/>
            <a:ext cx="73152" cy="41148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47688" y="3163824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点数锁定/扣减/退回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6446520" y="3657600"/>
            <a:ext cx="4480560" cy="411480"/>
          </a:xfrm>
          <a:prstGeom prst="roundRect">
            <a:avLst>
              <a:gd name="adj" fmla="val 17778"/>
            </a:avLst>
          </a:prstGeom>
          <a:solidFill>
            <a:srgbClr val="FFF0E6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3657600"/>
            <a:ext cx="73152" cy="41148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47688" y="3822192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文件资产归属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6446520" y="4315968"/>
            <a:ext cx="4480560" cy="411480"/>
          </a:xfrm>
          <a:prstGeom prst="roundRect">
            <a:avLst>
              <a:gd name="adj" fmla="val 17778"/>
            </a:avLst>
          </a:prstGeom>
          <a:solidFill>
            <a:srgbClr val="FFF0E6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4315968"/>
            <a:ext cx="73152" cy="41148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47688" y="4480560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会员/佣金/后台看板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5166360" y="2148840"/>
            <a:ext cx="1005840" cy="1508760"/>
          </a:xfrm>
          <a:prstGeom prst="roundRect">
            <a:avLst>
              <a:gd name="adj" fmla="val 13636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2386584"/>
            <a:ext cx="457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界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520440" y="5394960"/>
            <a:ext cx="5074920" cy="301752"/>
          </a:xfrm>
          <a:prstGeom prst="roundRect">
            <a:avLst>
              <a:gd name="adj" fmla="val 36364"/>
            </a:avLst>
          </a:prstGeom>
          <a:solidFill>
            <a:srgbClr val="EFE9FF"/>
          </a:solidFill>
          <a:ln w="10160">
            <a:solidFill>
              <a:srgbClr val="7752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75304" y="5472684"/>
            <a:ext cx="4965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7752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最终口径：父子任务自建，子任务内部绑定 LangGraph run/thread/checkpoint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/ 任务系统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平台父子任务：长内容和批量生产的业务骨架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DDF7F2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73152" cy="137160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44752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普通任务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1792224"/>
            <a:ext cx="247802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短文案、单图、网页提取、单张 OCR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一个任务一个主要结果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640080" y="2907792"/>
            <a:ext cx="2880360" cy="2148840"/>
          </a:xfrm>
          <a:prstGeom prst="roundRect">
            <a:avLst>
              <a:gd name="adj" fmla="val 3404"/>
            </a:avLst>
          </a:prstGeom>
          <a:solidFill>
            <a:srgbClr val="FFF0E6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907792"/>
            <a:ext cx="73152" cy="214884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072384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父子任务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" y="3419856"/>
            <a:ext cx="247802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长内容、批量、多步骤、多文件、允许部分成功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父任务统计整体进度，子任务可单独重试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4069080" y="1325880"/>
            <a:ext cx="708660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16093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父任务：整本小说 / 整部短剧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343400" y="1965960"/>
            <a:ext cx="6355080" cy="420624"/>
          </a:xfrm>
          <a:prstGeom prst="roundRect">
            <a:avLst>
              <a:gd name="adj" fmla="val 21739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211226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generation_parent_task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61688" y="2852928"/>
            <a:ext cx="1060704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61688" y="2852928"/>
            <a:ext cx="73152" cy="1051560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2856" y="30175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故事圣经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4562856" y="3364992"/>
            <a:ext cx="65836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child_task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4892040" y="2404872"/>
            <a:ext cx="0" cy="411480"/>
          </a:xfrm>
          <a:prstGeom prst="line">
            <a:avLst/>
          </a:prstGeom>
          <a:noFill/>
          <a:ln w="889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623560" y="2852928"/>
            <a:ext cx="1060704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2852928"/>
            <a:ext cx="73152" cy="1051560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24728" y="30175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人物关系</a:t>
            </a:r>
            <a:endParaRPr lang="en-US" sz="810" dirty="0"/>
          </a:p>
        </p:txBody>
      </p:sp>
      <p:sp>
        <p:nvSpPr>
          <p:cNvPr id="26" name="Text 24"/>
          <p:cNvSpPr/>
          <p:nvPr/>
        </p:nvSpPr>
        <p:spPr>
          <a:xfrm>
            <a:off x="5824728" y="3364992"/>
            <a:ext cx="65836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child_task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6153912" y="2404872"/>
            <a:ext cx="0" cy="411480"/>
          </a:xfrm>
          <a:prstGeom prst="line">
            <a:avLst/>
          </a:prstGeom>
          <a:noFill/>
          <a:ln w="889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85432" y="2852928"/>
            <a:ext cx="1060704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85432" y="2852928"/>
            <a:ext cx="73152" cy="105156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30175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第12集剧本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7086600" y="3364992"/>
            <a:ext cx="65836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child_task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7415784" y="2404872"/>
            <a:ext cx="0" cy="411480"/>
          </a:xfrm>
          <a:prstGeom prst="line">
            <a:avLst/>
          </a:prstGeom>
          <a:noFill/>
          <a:ln w="889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147304" y="2852928"/>
            <a:ext cx="1060704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47304" y="2852928"/>
            <a:ext cx="73152" cy="105156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8472" y="30175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第12集分镜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8348472" y="3364992"/>
            <a:ext cx="65836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child_task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677656" y="2404872"/>
            <a:ext cx="0" cy="411480"/>
          </a:xfrm>
          <a:prstGeom prst="line">
            <a:avLst/>
          </a:prstGeom>
          <a:noFill/>
          <a:ln w="889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409176" y="2852928"/>
            <a:ext cx="1060704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09176" y="2852928"/>
            <a:ext cx="73152" cy="105156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10344" y="30175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导出文件</a:t>
            </a:r>
            <a:endParaRPr lang="en-US" sz="810" dirty="0"/>
          </a:p>
        </p:txBody>
      </p:sp>
      <p:sp>
        <p:nvSpPr>
          <p:cNvPr id="41" name="Text 39"/>
          <p:cNvSpPr/>
          <p:nvPr/>
        </p:nvSpPr>
        <p:spPr>
          <a:xfrm>
            <a:off x="9610344" y="3364992"/>
            <a:ext cx="65836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child_task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9939528" y="2404872"/>
            <a:ext cx="0" cy="411480"/>
          </a:xfrm>
          <a:prstGeom prst="line">
            <a:avLst/>
          </a:prstGeom>
          <a:noFill/>
          <a:ln w="889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4370832" y="443484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失败子任务可单独重试；成功子任务确认扣点；失败子任务退回锁点。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连续性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连续性中心：小说和短剧的长期记忆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24871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25880"/>
            <a:ext cx="73152" cy="1115568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1490472"/>
            <a:ext cx="329184" cy="329184"/>
          </a:xfrm>
          <a:prstGeom prst="ellipse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55448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252728" y="149047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故事圣经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886968" y="1837944"/>
            <a:ext cx="20848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世界观、主线、风格、主题、禁忌</a:t>
            </a:r>
            <a:endParaRPr lang="en-US" sz="790" dirty="0"/>
          </a:p>
        </p:txBody>
      </p:sp>
      <p:sp>
        <p:nvSpPr>
          <p:cNvPr id="12" name="Shape 10"/>
          <p:cNvSpPr/>
          <p:nvPr/>
        </p:nvSpPr>
        <p:spPr>
          <a:xfrm>
            <a:off x="3502152" y="1325880"/>
            <a:ext cx="24871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02152" y="1325880"/>
            <a:ext cx="73152" cy="1115568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48456" y="1490472"/>
            <a:ext cx="329184" cy="329184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8456" y="155448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4069080" y="149047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人物档案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3703320" y="1837944"/>
            <a:ext cx="20848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身份、目标、性格、脾气、行为边界</a:t>
            </a:r>
            <a:endParaRPr lang="en-US" sz="790" dirty="0"/>
          </a:p>
        </p:txBody>
      </p:sp>
      <p:sp>
        <p:nvSpPr>
          <p:cNvPr id="18" name="Shape 16"/>
          <p:cNvSpPr/>
          <p:nvPr/>
        </p:nvSpPr>
        <p:spPr>
          <a:xfrm>
            <a:off x="6318504" y="1325880"/>
            <a:ext cx="24871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18504" y="1325880"/>
            <a:ext cx="73152" cy="1115568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1490472"/>
            <a:ext cx="329184" cy="329184"/>
          </a:xfrm>
          <a:prstGeom prst="ellipse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155448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6885432" y="149047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说话习惯</a:t>
            </a:r>
            <a:endParaRPr lang="en-US" sz="1010" dirty="0"/>
          </a:p>
        </p:txBody>
      </p:sp>
      <p:sp>
        <p:nvSpPr>
          <p:cNvPr id="23" name="Text 21"/>
          <p:cNvSpPr/>
          <p:nvPr/>
        </p:nvSpPr>
        <p:spPr>
          <a:xfrm>
            <a:off x="6519672" y="1837944"/>
            <a:ext cx="20848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口头禅、句式、语气、台词样例</a:t>
            </a:r>
            <a:endParaRPr lang="en-US" sz="790" dirty="0"/>
          </a:p>
        </p:txBody>
      </p:sp>
      <p:sp>
        <p:nvSpPr>
          <p:cNvPr id="24" name="Shape 22"/>
          <p:cNvSpPr/>
          <p:nvPr/>
        </p:nvSpPr>
        <p:spPr>
          <a:xfrm>
            <a:off x="9134856" y="1325880"/>
            <a:ext cx="24871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34856" y="1325880"/>
            <a:ext cx="73152" cy="1115568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1160" y="1490472"/>
            <a:ext cx="329184" cy="329184"/>
          </a:xfrm>
          <a:prstGeom prst="ellipse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155448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9701784" y="149047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关系图谱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9336024" y="1837944"/>
            <a:ext cx="20848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亲密、敌对、误会、隐藏关系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685800" y="2880360"/>
            <a:ext cx="24871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" y="2880360"/>
            <a:ext cx="73152" cy="1115568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" y="3044952"/>
            <a:ext cx="329184" cy="329184"/>
          </a:xfrm>
          <a:prstGeom prst="ellipse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" y="310896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1252728" y="304495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伏笔台账</a:t>
            </a:r>
            <a:endParaRPr lang="en-US" sz="1010" dirty="0"/>
          </a:p>
        </p:txBody>
      </p:sp>
      <p:sp>
        <p:nvSpPr>
          <p:cNvPr id="35" name="Text 33"/>
          <p:cNvSpPr/>
          <p:nvPr/>
        </p:nvSpPr>
        <p:spPr>
          <a:xfrm>
            <a:off x="886968" y="3392424"/>
            <a:ext cx="20848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埋设、推进、提醒、回收、废弃</a:t>
            </a:r>
            <a:endParaRPr lang="en-US" sz="790" dirty="0"/>
          </a:p>
        </p:txBody>
      </p:sp>
      <p:sp>
        <p:nvSpPr>
          <p:cNvPr id="36" name="Shape 34"/>
          <p:cNvSpPr/>
          <p:nvPr/>
        </p:nvSpPr>
        <p:spPr>
          <a:xfrm>
            <a:off x="3502152" y="2880360"/>
            <a:ext cx="24871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502152" y="2880360"/>
            <a:ext cx="73152" cy="1115568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48456" y="3044952"/>
            <a:ext cx="329184" cy="329184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48456" y="310896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069080" y="304495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事件时间线</a:t>
            </a:r>
            <a:endParaRPr lang="en-US" sz="1010" dirty="0"/>
          </a:p>
        </p:txBody>
      </p:sp>
      <p:sp>
        <p:nvSpPr>
          <p:cNvPr id="41" name="Text 39"/>
          <p:cNvSpPr/>
          <p:nvPr/>
        </p:nvSpPr>
        <p:spPr>
          <a:xfrm>
            <a:off x="3703320" y="3392424"/>
            <a:ext cx="20848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关键事件、人物状态、关系变化</a:t>
            </a:r>
            <a:endParaRPr lang="en-US" sz="790" dirty="0"/>
          </a:p>
        </p:txBody>
      </p:sp>
      <p:sp>
        <p:nvSpPr>
          <p:cNvPr id="42" name="Shape 40"/>
          <p:cNvSpPr/>
          <p:nvPr/>
        </p:nvSpPr>
        <p:spPr>
          <a:xfrm>
            <a:off x="6318504" y="2880360"/>
            <a:ext cx="24871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18504" y="2880360"/>
            <a:ext cx="73152" cy="1115568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64808" y="3044952"/>
            <a:ext cx="329184" cy="329184"/>
          </a:xfrm>
          <a:prstGeom prst="ellipse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64808" y="310896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885432" y="304495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一致性检查</a:t>
            </a:r>
            <a:endParaRPr lang="en-US" sz="1010" dirty="0"/>
          </a:p>
        </p:txBody>
      </p:sp>
      <p:sp>
        <p:nvSpPr>
          <p:cNvPr id="47" name="Text 45"/>
          <p:cNvSpPr/>
          <p:nvPr/>
        </p:nvSpPr>
        <p:spPr>
          <a:xfrm>
            <a:off x="6519672" y="3392424"/>
            <a:ext cx="20848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人设崩坏、关系冲突、时间线矛盾</a:t>
            </a:r>
            <a:endParaRPr lang="en-US" sz="790" dirty="0"/>
          </a:p>
        </p:txBody>
      </p:sp>
      <p:sp>
        <p:nvSpPr>
          <p:cNvPr id="48" name="Shape 46"/>
          <p:cNvSpPr/>
          <p:nvPr/>
        </p:nvSpPr>
        <p:spPr>
          <a:xfrm>
            <a:off x="9134856" y="2880360"/>
            <a:ext cx="248716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134856" y="2880360"/>
            <a:ext cx="73152" cy="1115568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81160" y="3044952"/>
            <a:ext cx="329184" cy="329184"/>
          </a:xfrm>
          <a:prstGeom prst="ellipse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81160" y="310896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9701784" y="304495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自动纠偏</a:t>
            </a:r>
            <a:endParaRPr lang="en-US" sz="1010" dirty="0"/>
          </a:p>
        </p:txBody>
      </p:sp>
      <p:sp>
        <p:nvSpPr>
          <p:cNvPr id="53" name="Text 51"/>
          <p:cNvSpPr/>
          <p:nvPr/>
        </p:nvSpPr>
        <p:spPr>
          <a:xfrm>
            <a:off x="9336024" y="3392424"/>
            <a:ext cx="20848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给出建议，支持局部重写</a:t>
            </a:r>
            <a:endParaRPr lang="en-US" sz="790" dirty="0"/>
          </a:p>
        </p:txBody>
      </p:sp>
      <p:sp>
        <p:nvSpPr>
          <p:cNvPr id="54" name="Shape 52"/>
          <p:cNvSpPr/>
          <p:nvPr/>
        </p:nvSpPr>
        <p:spPr>
          <a:xfrm>
            <a:off x="2971800" y="5166360"/>
            <a:ext cx="6309360" cy="301752"/>
          </a:xfrm>
          <a:prstGeom prst="roundRect">
            <a:avLst>
              <a:gd name="adj" fmla="val 36364"/>
            </a:avLst>
          </a:prstGeom>
          <a:solidFill>
            <a:srgbClr val="EAF7ED"/>
          </a:solidFill>
          <a:ln w="10160">
            <a:solidFill>
              <a:srgbClr val="4E9F5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26664" y="5244084"/>
            <a:ext cx="6199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E9F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生成前构建 continuity_snapshot，生成后更新人物、关系、伏笔和时间线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文件资产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内容资产中心：数据库存元数据，OSS 存真实文件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13232" y="1325880"/>
            <a:ext cx="2468880" cy="4343400"/>
          </a:xfrm>
          <a:prstGeom prst="roundRect">
            <a:avLst>
              <a:gd name="adj" fmla="val 2963"/>
            </a:avLst>
          </a:prstGeom>
          <a:solidFill>
            <a:srgbClr val="EAF2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325880"/>
            <a:ext cx="73152" cy="43434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9047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数据库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1837944"/>
            <a:ext cx="2066544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短文本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 JSON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asset_no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文件元数据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权限归属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生命周期状态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3291840" y="3383280"/>
            <a:ext cx="868680" cy="0"/>
          </a:xfrm>
          <a:prstGeom prst="line">
            <a:avLst/>
          </a:prstGeom>
          <a:noFill/>
          <a:ln w="15240">
            <a:solidFill>
              <a:srgbClr val="3A7BD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51960" y="1325880"/>
            <a:ext cx="3108960" cy="4343400"/>
          </a:xfrm>
          <a:prstGeom prst="roundRect">
            <a:avLst>
              <a:gd name="adj" fmla="val 2353"/>
            </a:avLst>
          </a:prstGeom>
          <a:solidFill>
            <a:srgbClr val="DDF7F2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325880"/>
            <a:ext cx="73152" cy="434340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1490472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内容资产中心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53128" y="1837944"/>
            <a:ext cx="2706624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用户上传素材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AI生成文件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缩略图/封面/字幕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签名 URL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容量控制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生命周期清理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7470648" y="3383280"/>
            <a:ext cx="868680" cy="0"/>
          </a:xfrm>
          <a:prstGeom prst="line">
            <a:avLst/>
          </a:prstGeom>
          <a:noFill/>
          <a:ln w="15240">
            <a:solidFill>
              <a:srgbClr val="1D9A8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430768" y="1325880"/>
            <a:ext cx="2697480" cy="4343400"/>
          </a:xfrm>
          <a:prstGeom prst="roundRect">
            <a:avLst>
              <a:gd name="adj" fmla="val 2712"/>
            </a:avLst>
          </a:prstGeom>
          <a:solidFill>
            <a:srgbClr val="FFF0E6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30768" y="1325880"/>
            <a:ext cx="73152" cy="434340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31936" y="1490472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阿里云 OSS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31936" y="1837944"/>
            <a:ext cx="2295144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图片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音频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视频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PPT/PDF/Word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Excel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转码中间件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2194560" y="589788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访问规则：前端不持有永久 OSS 地址，后端校验权限后签发临时 URL。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商业化权益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会员权益中心：比“点数账本”更有扩展性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53312"/>
            <a:ext cx="73152" cy="82296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517904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点数账户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932688" y="1865376"/>
            <a:ext cx="19293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锁点、扣点、退点、流水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3474720" y="1353312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353312"/>
            <a:ext cx="73152" cy="82296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517904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会员套餐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3675888" y="1865376"/>
            <a:ext cx="19293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月卡、年卡、企业版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6217920" y="1353312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353312"/>
            <a:ext cx="73152" cy="822960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1517904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额度权益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6419088" y="1865376"/>
            <a:ext cx="19293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每日额度、并发、批量任务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731520" y="2523744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523744"/>
            <a:ext cx="73152" cy="82296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2688336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功能权限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932688" y="3035808"/>
            <a:ext cx="19293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高级模板、导出、API预留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3474720" y="2523744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523744"/>
            <a:ext cx="73152" cy="82296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5888" y="2688336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折扣规则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3675888" y="3035808"/>
            <a:ext cx="19293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会员折扣、视频/批量折扣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6217920" y="2523744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523744"/>
            <a:ext cx="73152" cy="822960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2688336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容量权益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6419088" y="3035808"/>
            <a:ext cx="19293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素材容量、项目数、保存时长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9098280" y="1298448"/>
            <a:ext cx="2103120" cy="3246120"/>
          </a:xfrm>
          <a:prstGeom prst="roundRect">
            <a:avLst>
              <a:gd name="adj" fmla="val 4348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00032" y="1938528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现金权益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不进点数账本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290304" y="3035808"/>
            <a:ext cx="1700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DE7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佣金分账中心单独管理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7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提现、冻结、结算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188720" y="5074920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EAF2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88720" y="5074920"/>
            <a:ext cx="73152" cy="6858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89888" y="523951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充值中心 -&gt; 支付订单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389888" y="5586984"/>
            <a:ext cx="2432304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微信/支付宝支付成功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4114800" y="5422392"/>
            <a:ext cx="548640" cy="0"/>
          </a:xfrm>
          <a:prstGeom prst="line">
            <a:avLst/>
          </a:prstGeom>
          <a:noFill/>
          <a:ln w="15240">
            <a:solidFill>
              <a:srgbClr val="3A7BD5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709160" y="507492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FFF0E6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5074920"/>
            <a:ext cx="73152" cy="68580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523951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会员权益中心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910328" y="5586984"/>
            <a:ext cx="2340864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发放点数或开通会员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7543800" y="5422392"/>
            <a:ext cx="548640" cy="0"/>
          </a:xfrm>
          <a:prstGeom prst="line">
            <a:avLst/>
          </a:prstGeom>
          <a:noFill/>
          <a:ln w="15240">
            <a:solidFill>
              <a:srgbClr val="F08A4B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138160" y="507492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DDF7F2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38160" y="5074920"/>
            <a:ext cx="73152" cy="68580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39328" y="5239512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生成任务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339328" y="5586984"/>
            <a:ext cx="2295144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校验权益并锁点扣点</a:t>
            </a:r>
            <a:endParaRPr lang="en-US" sz="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3785616" cy="685800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731520"/>
            <a:ext cx="3108960" cy="3108960"/>
          </a:xfrm>
          <a:prstGeom prst="arc">
            <a:avLst/>
          </a:prstGeom>
          <a:solidFill>
            <a:srgbClr val="132238">
              <a:alpha val="0"/>
            </a:srgbClr>
          </a:solidFill>
          <a:ln w="38100">
            <a:solidFill>
              <a:srgbClr val="1D9A8A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931920"/>
            <a:ext cx="2194560" cy="2194560"/>
          </a:xfrm>
          <a:prstGeom prst="arc">
            <a:avLst/>
          </a:prstGeom>
          <a:solidFill>
            <a:srgbClr val="132238">
              <a:alpha val="0"/>
            </a:srgbClr>
          </a:solidFill>
          <a:ln w="25400">
            <a:solidFill>
              <a:srgbClr val="F08A4B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4028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关键业务流程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04088" y="31546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DD7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普通生成、爆款拆解、图文小说、短剧和返佣闭环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5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5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/ 生成链路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 AI 生成流程：先锁点，再执行，再结算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298448"/>
            <a:ext cx="73152" cy="109728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463040"/>
            <a:ext cx="329184" cy="329184"/>
          </a:xfrm>
          <a:prstGeom prst="ellipse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5270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133856" y="1463040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选择模板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8096" y="1810512"/>
            <a:ext cx="20208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用户填写输入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3054096" y="1847088"/>
            <a:ext cx="237744" cy="0"/>
          </a:xfrm>
          <a:prstGeom prst="line">
            <a:avLst/>
          </a:prstGeom>
          <a:noFill/>
          <a:ln w="101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83280" y="1298448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298448"/>
            <a:ext cx="73152" cy="109728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9584" y="1463040"/>
            <a:ext cx="329184" cy="329184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9584" y="15270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950208" y="1463040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创建任务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84448" y="1810512"/>
            <a:ext cx="20208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 task_no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870448" y="1847088"/>
            <a:ext cx="237744" cy="0"/>
          </a:xfrm>
          <a:prstGeom prst="line">
            <a:avLst/>
          </a:prstGeom>
          <a:noFill/>
          <a:ln w="101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99632" y="1298448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9632" y="1298448"/>
            <a:ext cx="73152" cy="109728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45936" y="1463040"/>
            <a:ext cx="329184" cy="329184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15270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6766560" y="1463040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锁定权益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0" y="1810512"/>
            <a:ext cx="20208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会员权益中心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8686800" y="1847088"/>
            <a:ext cx="237744" cy="0"/>
          </a:xfrm>
          <a:prstGeom prst="line">
            <a:avLst/>
          </a:prstGeom>
          <a:noFill/>
          <a:ln w="101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15984" y="1298448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015984" y="1298448"/>
            <a:ext cx="73152" cy="1097280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62288" y="1463040"/>
            <a:ext cx="329184" cy="329184"/>
          </a:xfrm>
          <a:prstGeom prst="ellipse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62288" y="15270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9582912" y="1463040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执行工作流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217152" y="1810512"/>
            <a:ext cx="20208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LangGraph 节点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566928" y="2990088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6928" y="2990088"/>
            <a:ext cx="73152" cy="109728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3154680"/>
            <a:ext cx="329184" cy="329184"/>
          </a:xfrm>
          <a:prstGeom prst="ellipse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321868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1133856" y="3154680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模型调用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" y="3502152"/>
            <a:ext cx="20208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模型路由选择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3054096" y="3538728"/>
            <a:ext cx="237744" cy="0"/>
          </a:xfrm>
          <a:prstGeom prst="line">
            <a:avLst/>
          </a:prstGeom>
          <a:noFill/>
          <a:ln w="101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383280" y="2990088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83280" y="2990088"/>
            <a:ext cx="73152" cy="109728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9584" y="3154680"/>
            <a:ext cx="329184" cy="329184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9584" y="321868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3950208" y="3154680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保存结果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584448" y="3502152"/>
            <a:ext cx="20208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文本/OSS资产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5870448" y="3538728"/>
            <a:ext cx="237744" cy="0"/>
          </a:xfrm>
          <a:prstGeom prst="line">
            <a:avLst/>
          </a:prstGeom>
          <a:noFill/>
          <a:ln w="101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199632" y="2990088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99632" y="2990088"/>
            <a:ext cx="73152" cy="109728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45936" y="3154680"/>
            <a:ext cx="329184" cy="329184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45936" y="321868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6766560" y="3154680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质量检查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400800" y="3502152"/>
            <a:ext cx="20208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安全/格式/一致性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8686800" y="3538728"/>
            <a:ext cx="237744" cy="0"/>
          </a:xfrm>
          <a:prstGeom prst="line">
            <a:avLst/>
          </a:prstGeom>
          <a:noFill/>
          <a:ln w="101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9015984" y="2990088"/>
            <a:ext cx="2423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015984" y="2990088"/>
            <a:ext cx="73152" cy="1097280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62288" y="3154680"/>
            <a:ext cx="329184" cy="329184"/>
          </a:xfrm>
          <a:prstGeom prst="ellipse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62288" y="321868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9582912" y="3154680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扣点通知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9217152" y="3502152"/>
            <a:ext cx="20208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成功扣点失败退点</a:t>
            </a:r>
            <a:endParaRPr lang="en-US" sz="840" dirty="0"/>
          </a:p>
        </p:txBody>
      </p:sp>
      <p:sp>
        <p:nvSpPr>
          <p:cNvPr id="60" name="Shape 58"/>
          <p:cNvSpPr/>
          <p:nvPr/>
        </p:nvSpPr>
        <p:spPr>
          <a:xfrm>
            <a:off x="9189720" y="2423160"/>
            <a:ext cx="0" cy="484632"/>
          </a:xfrm>
          <a:prstGeom prst="line">
            <a:avLst/>
          </a:prstGeom>
          <a:noFill/>
          <a:ln w="101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9189720" y="2907792"/>
            <a:ext cx="-8531352" cy="0"/>
          </a:xfrm>
          <a:prstGeom prst="line">
            <a:avLst/>
          </a:prstGeom>
          <a:noFill/>
          <a:ln w="10160">
            <a:solidFill>
              <a:srgbClr val="667085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/ 爆款工作流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爆款拆解：从素材提取到可复刻 Brief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057400" cy="3474720"/>
          </a:xfrm>
          <a:prstGeom prst="roundRect">
            <a:avLst>
              <a:gd name="adj" fmla="val 3556"/>
            </a:avLst>
          </a:prstGeom>
          <a:solidFill>
            <a:srgbClr val="EAF2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25880"/>
            <a:ext cx="73152" cy="34747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490472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多模态输入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2688" y="1837944"/>
            <a:ext cx="165506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文案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图片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视频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音频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网页链接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2926080" y="3063240"/>
            <a:ext cx="731520" cy="0"/>
          </a:xfrm>
          <a:prstGeom prst="line">
            <a:avLst/>
          </a:prstGeom>
          <a:noFill/>
          <a:ln w="15240">
            <a:solidFill>
              <a:srgbClr val="3A7BD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49040" y="1325880"/>
            <a:ext cx="2331720" cy="3474720"/>
          </a:xfrm>
          <a:prstGeom prst="roundRect">
            <a:avLst>
              <a:gd name="adj" fmla="val 3137"/>
            </a:avLst>
          </a:prstGeom>
          <a:solidFill>
            <a:srgbClr val="DDF7F2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1325880"/>
            <a:ext cx="73152" cy="347472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208" y="1490472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提取与清洗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50208" y="1837944"/>
            <a:ext cx="192938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OCR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ASR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抽关键帧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文本分段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素材入库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6217920" y="3063240"/>
            <a:ext cx="731520" cy="0"/>
          </a:xfrm>
          <a:prstGeom prst="line">
            <a:avLst/>
          </a:prstGeom>
          <a:noFill/>
          <a:ln w="15240">
            <a:solidFill>
              <a:srgbClr val="1D9A8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40880" y="1325880"/>
            <a:ext cx="2331720" cy="3474720"/>
          </a:xfrm>
          <a:prstGeom prst="roundRect">
            <a:avLst>
              <a:gd name="adj" fmla="val 3137"/>
            </a:avLst>
          </a:prstGeom>
          <a:solidFill>
            <a:srgbClr val="EFE9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1325880"/>
            <a:ext cx="73152" cy="3474720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1490472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结构化分析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42048" y="1837944"/>
            <a:ext cx="192938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钩子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冲突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卖点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节奏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转化动作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9509760" y="3063240"/>
            <a:ext cx="548640" cy="0"/>
          </a:xfrm>
          <a:prstGeom prst="line">
            <a:avLst/>
          </a:prstGeom>
          <a:noFill/>
          <a:ln w="15240">
            <a:solidFill>
              <a:srgbClr val="7752C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149840" y="1325880"/>
            <a:ext cx="1417320" cy="3474720"/>
          </a:xfrm>
          <a:prstGeom prst="roundRect">
            <a:avLst>
              <a:gd name="adj" fmla="val 5161"/>
            </a:avLst>
          </a:prstGeom>
          <a:solidFill>
            <a:srgbClr val="FFF0E6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149840" y="1325880"/>
            <a:ext cx="73152" cy="347472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51008" y="1490472"/>
            <a:ext cx="1014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复刻 Brief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351008" y="1837944"/>
            <a:ext cx="1014984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用于生成同款文案、脚本或分镜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08960" y="5440680"/>
            <a:ext cx="6035040" cy="301752"/>
          </a:xfrm>
          <a:prstGeom prst="roundRect">
            <a:avLst>
              <a:gd name="adj" fmla="val 36364"/>
            </a:avLst>
          </a:prstGeom>
          <a:solidFill>
            <a:srgbClr val="FFF0E6"/>
          </a:solidFill>
          <a:ln w="10160">
            <a:solidFill>
              <a:srgbClr val="F08A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63824" y="5518404"/>
            <a:ext cx="5925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08A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拆解不是总结，目标是沉淀可复用结构和下一次生成的输入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/ 长内容生产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图文小说：20-100 章的项目制生产线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132588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325880"/>
            <a:ext cx="73152" cy="822960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490472"/>
            <a:ext cx="329184" cy="329184"/>
          </a:xfrm>
          <a:prstGeom prst="ellipse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55448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225296" y="1490472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故事圣经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59536" y="1837944"/>
            <a:ext cx="19293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阶段确认/可重写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3401568" y="132588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1325880"/>
            <a:ext cx="73152" cy="82296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47872" y="1490472"/>
            <a:ext cx="329184" cy="329184"/>
          </a:xfrm>
          <a:prstGeom prst="ellipse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155448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3968496" y="1490472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人物关系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3602736" y="1837944"/>
            <a:ext cx="19293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阶段确认/可重写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6144768" y="132588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4768" y="1325880"/>
            <a:ext cx="73152" cy="822960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91072" y="1490472"/>
            <a:ext cx="329184" cy="329184"/>
          </a:xfrm>
          <a:prstGeom prst="ellipse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55448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6711696" y="1490472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章节大纲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6345936" y="1837944"/>
            <a:ext cx="19293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阶段确认/可重写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8887968" y="132588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87968" y="1325880"/>
            <a:ext cx="73152" cy="82296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34272" y="1490472"/>
            <a:ext cx="329184" cy="329184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34272" y="155448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9454896" y="1490472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样章确认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9089136" y="1837944"/>
            <a:ext cx="19293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阶段确认/可重写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658368" y="265176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2651760"/>
            <a:ext cx="73152" cy="822960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" y="2816352"/>
            <a:ext cx="329184" cy="329184"/>
          </a:xfrm>
          <a:prstGeom prst="ellipse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288036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1225296" y="2816352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批量正文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859536" y="3163824"/>
            <a:ext cx="19293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阶段确认/可重写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3401568" y="265176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01568" y="2651760"/>
            <a:ext cx="73152" cy="82296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47872" y="2816352"/>
            <a:ext cx="329184" cy="329184"/>
          </a:xfrm>
          <a:prstGeom prst="ellipse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47872" y="288036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3968496" y="2816352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章节配图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3602736" y="3163824"/>
            <a:ext cx="19293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每章 1-3 张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144768" y="265176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44768" y="2651760"/>
            <a:ext cx="73152" cy="822960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91072" y="2816352"/>
            <a:ext cx="329184" cy="329184"/>
          </a:xfrm>
          <a:prstGeom prst="ellipse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288036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711696" y="2816352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连续性检查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6345936" y="3163824"/>
            <a:ext cx="19293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阶段确认/可重写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8887968" y="265176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87968" y="2651760"/>
            <a:ext cx="73152" cy="82296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34272" y="2816352"/>
            <a:ext cx="329184" cy="329184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34272" y="288036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9454896" y="2816352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导出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9089136" y="3163824"/>
            <a:ext cx="19293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Word/PDF/Markdown</a:t>
            </a:r>
            <a:endParaRPr lang="en-US" sz="760" dirty="0"/>
          </a:p>
        </p:txBody>
      </p:sp>
      <p:sp>
        <p:nvSpPr>
          <p:cNvPr id="54" name="Shape 52"/>
          <p:cNvSpPr/>
          <p:nvPr/>
        </p:nvSpPr>
        <p:spPr>
          <a:xfrm>
            <a:off x="1051560" y="4709160"/>
            <a:ext cx="9784080" cy="749808"/>
          </a:xfrm>
          <a:prstGeom prst="roundRect">
            <a:avLst>
              <a:gd name="adj" fmla="val 9756"/>
            </a:avLst>
          </a:prstGeom>
          <a:solidFill>
            <a:srgbClr val="EAF7ED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1560" y="4709160"/>
            <a:ext cx="73152" cy="749808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252728" y="4873752"/>
            <a:ext cx="9381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连续性关键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1252728" y="5221224"/>
            <a:ext cx="938174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每章生成前读取故事圣经、人物口吻、关系、伏笔和最近事件；生成后更新人物状态、关系变化、伏笔台账和事件时间线。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/ 短剧生产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短剧创作：100 集以内，首版聚焦剧本与分镜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298448"/>
            <a:ext cx="2331720" cy="4160520"/>
          </a:xfrm>
          <a:prstGeom prst="roundRect">
            <a:avLst>
              <a:gd name="adj" fmla="val 3137"/>
            </a:avLst>
          </a:prstGeom>
          <a:solidFill>
            <a:srgbClr val="EFE9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298448"/>
            <a:ext cx="73152" cy="4160520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463040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项目设定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86968" y="1810512"/>
            <a:ext cx="1929384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题材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目标人群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平台风格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每集约 1 分钟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 集以内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3127248" y="3246120"/>
            <a:ext cx="621792" cy="0"/>
          </a:xfrm>
          <a:prstGeom prst="line">
            <a:avLst/>
          </a:prstGeom>
          <a:noFill/>
          <a:ln w="15240">
            <a:solidFill>
              <a:srgbClr val="7752C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40480" y="1298448"/>
            <a:ext cx="2331720" cy="4160520"/>
          </a:xfrm>
          <a:prstGeom prst="roundRect">
            <a:avLst>
              <a:gd name="adj" fmla="val 3137"/>
            </a:avLst>
          </a:prstGeom>
          <a:solidFill>
            <a:srgbClr val="DDF7F2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0" y="1298448"/>
            <a:ext cx="73152" cy="416052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41648" y="1463040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分集生产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41648" y="1810512"/>
            <a:ext cx="1929384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人物关系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说话习惯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分集大纲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 3-5 集样稿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批量生成剧本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6281928" y="3246120"/>
            <a:ext cx="621792" cy="0"/>
          </a:xfrm>
          <a:prstGeom prst="line">
            <a:avLst/>
          </a:prstGeom>
          <a:noFill/>
          <a:ln w="15240">
            <a:solidFill>
              <a:srgbClr val="1D9A8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95160" y="1298448"/>
            <a:ext cx="2331720" cy="4160520"/>
          </a:xfrm>
          <a:prstGeom prst="roundRect">
            <a:avLst>
              <a:gd name="adj" fmla="val 3137"/>
            </a:avLst>
          </a:prstGeom>
          <a:solidFill>
            <a:srgbClr val="FFF0E6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95160" y="1298448"/>
            <a:ext cx="73152" cy="416052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6328" y="1463040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分镜交付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96328" y="1810512"/>
            <a:ext cx="1929384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镜头号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景别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画面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台词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时长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转场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9436608" y="3246120"/>
            <a:ext cx="621792" cy="0"/>
          </a:xfrm>
          <a:prstGeom prst="line">
            <a:avLst/>
          </a:prstGeom>
          <a:noFill/>
          <a:ln w="15240">
            <a:solidFill>
              <a:srgbClr val="F08A4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149840" y="1298448"/>
            <a:ext cx="1325880" cy="4160520"/>
          </a:xfrm>
          <a:prstGeom prst="roundRect">
            <a:avLst>
              <a:gd name="adj" fmla="val 5517"/>
            </a:avLst>
          </a:prstGeom>
          <a:solidFill>
            <a:srgbClr val="EAF7ED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149840" y="1298448"/>
            <a:ext cx="73152" cy="4160520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51008" y="1463040"/>
            <a:ext cx="923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导出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351008" y="1810512"/>
            <a:ext cx="923544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剧本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分镜表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拍摄清单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 / 增长闭环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营销中心与佣金分账：资格和结算分离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185623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828800"/>
            <a:ext cx="73152" cy="123444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1993392"/>
            <a:ext cx="329184" cy="329184"/>
          </a:xfrm>
          <a:prstGeom prst="ellipse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05740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252728" y="1993392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邀请注册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86968" y="2340864"/>
            <a:ext cx="14538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邀请码/链接/海报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87752" y="2450592"/>
            <a:ext cx="292608" cy="0"/>
          </a:xfrm>
          <a:prstGeom prst="line">
            <a:avLst/>
          </a:prstGeom>
          <a:noFill/>
          <a:ln w="101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71800" y="1828800"/>
            <a:ext cx="185623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71800" y="1828800"/>
            <a:ext cx="73152" cy="12344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18104" y="1993392"/>
            <a:ext cx="329184" cy="329184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18104" y="205740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538728" y="1993392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用户充值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3172968" y="2340864"/>
            <a:ext cx="14538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支付订单成功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873752" y="2450592"/>
            <a:ext cx="292608" cy="0"/>
          </a:xfrm>
          <a:prstGeom prst="line">
            <a:avLst/>
          </a:prstGeom>
          <a:noFill/>
          <a:ln w="101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57800" y="1828800"/>
            <a:ext cx="185623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57800" y="1828800"/>
            <a:ext cx="73152" cy="123444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04104" y="1993392"/>
            <a:ext cx="329184" cy="329184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04104" y="205740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824728" y="1993392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营销判断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5458968" y="2340864"/>
            <a:ext cx="14538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活动与邀请资格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9752" y="2450592"/>
            <a:ext cx="292608" cy="0"/>
          </a:xfrm>
          <a:prstGeom prst="line">
            <a:avLst/>
          </a:prstGeom>
          <a:noFill/>
          <a:ln w="101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543800" y="1828800"/>
            <a:ext cx="185623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43800" y="1828800"/>
            <a:ext cx="73152" cy="1234440"/>
          </a:xfrm>
          <a:prstGeom prst="rect">
            <a:avLst/>
          </a:prstGeom>
          <a:solidFill>
            <a:srgbClr val="D99D2B"/>
          </a:solidFill>
          <a:ln w="12700">
            <a:solidFill>
              <a:srgbClr val="D99D2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90104" y="1993392"/>
            <a:ext cx="329184" cy="329184"/>
          </a:xfrm>
          <a:prstGeom prst="ellipse">
            <a:avLst/>
          </a:prstGeom>
          <a:solidFill>
            <a:srgbClr val="D99D2B"/>
          </a:solidFill>
          <a:ln w="12700">
            <a:solidFill>
              <a:srgbClr val="D99D2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0104" y="205740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8110728" y="1993392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佣金记录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7744968" y="2340864"/>
            <a:ext cx="14538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冻结期防退款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445752" y="2450592"/>
            <a:ext cx="292608" cy="0"/>
          </a:xfrm>
          <a:prstGeom prst="line">
            <a:avLst/>
          </a:prstGeom>
          <a:noFill/>
          <a:ln w="1016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829800" y="1828800"/>
            <a:ext cx="185623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829800" y="1828800"/>
            <a:ext cx="73152" cy="1234440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76104" y="1993392"/>
            <a:ext cx="329184" cy="329184"/>
          </a:xfrm>
          <a:prstGeom prst="ellipse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76104" y="205740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10396728" y="1993392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可结算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10030968" y="2340864"/>
            <a:ext cx="14538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提现审核/官方分账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914400" y="4251960"/>
            <a:ext cx="2971800" cy="822960"/>
          </a:xfrm>
          <a:prstGeom prst="roundRect">
            <a:avLst>
              <a:gd name="adj" fmla="val 8889"/>
            </a:avLst>
          </a:prstGeom>
          <a:solidFill>
            <a:srgbClr val="DDF7F2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0" y="4251960"/>
            <a:ext cx="73152" cy="822960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15568" y="4416552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营销中心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115568" y="4764024"/>
            <a:ext cx="256946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负责活动、邀请、优惠券、渠道码、奖励资格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4572000" y="4251960"/>
            <a:ext cx="2971800" cy="822960"/>
          </a:xfrm>
          <a:prstGeom prst="roundRect">
            <a:avLst>
              <a:gd name="adj" fmla="val 8889"/>
            </a:avLst>
          </a:prstGeom>
          <a:solidFill>
            <a:srgbClr val="FFF0E6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0" y="4251960"/>
            <a:ext cx="73152" cy="822960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4416552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会员权益中心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773168" y="4764024"/>
            <a:ext cx="256946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负责点数、会员、额度、折扣、容量</a:t>
            </a:r>
            <a:endParaRPr lang="en-US" sz="810" dirty="0"/>
          </a:p>
        </p:txBody>
      </p:sp>
      <p:sp>
        <p:nvSpPr>
          <p:cNvPr id="48" name="Shape 46"/>
          <p:cNvSpPr/>
          <p:nvPr/>
        </p:nvSpPr>
        <p:spPr>
          <a:xfrm>
            <a:off x="8229600" y="4251960"/>
            <a:ext cx="2788920" cy="822960"/>
          </a:xfrm>
          <a:prstGeom prst="roundRect">
            <a:avLst>
              <a:gd name="adj" fmla="val 8889"/>
            </a:avLst>
          </a:prstGeom>
          <a:solidFill>
            <a:srgbClr val="FFF7E4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29600" y="4251960"/>
            <a:ext cx="73152" cy="822960"/>
          </a:xfrm>
          <a:prstGeom prst="rect">
            <a:avLst/>
          </a:prstGeom>
          <a:solidFill>
            <a:srgbClr val="D99D2B"/>
          </a:solidFill>
          <a:ln w="12700">
            <a:solidFill>
              <a:srgbClr val="D99D2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30768" y="4416552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佣金分账中心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430768" y="4764024"/>
            <a:ext cx="23865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负责现金返佣、冻结、提现、结算</a:t>
            </a:r>
            <a:endParaRPr lang="en-US" sz="810" dirty="0"/>
          </a:p>
        </p:txBody>
      </p:sp>
      <p:sp>
        <p:nvSpPr>
          <p:cNvPr id="52" name="Shape 50"/>
          <p:cNvSpPr/>
          <p:nvPr/>
        </p:nvSpPr>
        <p:spPr>
          <a:xfrm>
            <a:off x="3611880" y="5532120"/>
            <a:ext cx="5074920" cy="301752"/>
          </a:xfrm>
          <a:prstGeom prst="roundRect">
            <a:avLst>
              <a:gd name="adj" fmla="val 36364"/>
            </a:avLst>
          </a:prstGeom>
          <a:solidFill>
            <a:srgbClr val="FFEAEA"/>
          </a:solidFill>
          <a:ln w="10160">
            <a:solidFill>
              <a:srgbClr val="D85A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66744" y="5609844"/>
            <a:ext cx="4965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85A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营销中心不直连模型路由；现金佣金不进入点数账本</a:t>
            </a:r>
            <a:endParaRPr lang="en-US" sz="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/ 后台能力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后台管理：平台可运营的关键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49808" y="1389888"/>
            <a:ext cx="324612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389888"/>
            <a:ext cx="73152" cy="1152144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554480"/>
            <a:ext cx="329184" cy="329184"/>
          </a:xfrm>
          <a:prstGeom prst="ellipse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61848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316736" y="155448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AI运营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50976" y="1901952"/>
            <a:ext cx="284378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供应商 / 模型 / 路由 / 模板 / Prompt / 工作流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98848" y="1389888"/>
            <a:ext cx="324612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98848" y="1389888"/>
            <a:ext cx="73152" cy="1152144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5152" y="1554480"/>
            <a:ext cx="329184" cy="329184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61848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065776" y="155448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任务运营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700016" y="1901952"/>
            <a:ext cx="284378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父子任务 / 进度 / 重试 / 取消 / 失败退点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47888" y="1389888"/>
            <a:ext cx="324612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47888" y="1389888"/>
            <a:ext cx="73152" cy="1152144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94192" y="1554480"/>
            <a:ext cx="329184" cy="329184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4192" y="161848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8814816" y="155448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资产运营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449056" y="1901952"/>
            <a:ext cx="284378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用户素材 / AI文件 / OSS状态 / 签名访问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9808" y="3035808"/>
            <a:ext cx="324612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3035808"/>
            <a:ext cx="73152" cy="1152144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3200400"/>
            <a:ext cx="329184" cy="329184"/>
          </a:xfrm>
          <a:prstGeom prst="ellipse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26440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1316736" y="320040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商业运营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950976" y="3547872"/>
            <a:ext cx="284378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会员权益 / 订单支付 / 营销活动 / 佣金结算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498848" y="3035808"/>
            <a:ext cx="324612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98848" y="3035808"/>
            <a:ext cx="73152" cy="1152144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5152" y="3200400"/>
            <a:ext cx="329184" cy="329184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326440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065776" y="320040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治理运营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4700016" y="3547872"/>
            <a:ext cx="284378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风控审核 / 内容安全 / 通知 / 审计报表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47888" y="3035808"/>
            <a:ext cx="324612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47888" y="3035808"/>
            <a:ext cx="73152" cy="1152144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94192" y="3200400"/>
            <a:ext cx="329184" cy="329184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94192" y="326440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8814816" y="3200400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数据运营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8449056" y="3547872"/>
            <a:ext cx="284378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AI成本 / 模型质量 / 充值转化 / 营销ROI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97280" y="58338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后台不是“配置页集合”，而是模型、任务、资产、会员、营销、财务和治理的运营中枢。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 / MVP路线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实施路线：先闭环，再扩复杂能力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2331720" cy="4343400"/>
          </a:xfrm>
          <a:prstGeom prst="roundRect">
            <a:avLst>
              <a:gd name="adj" fmla="val 3137"/>
            </a:avLst>
          </a:prstGeom>
          <a:solidFill>
            <a:srgbClr val="EAF7F4"/>
          </a:solidFill>
          <a:ln w="12700">
            <a:solidFill>
              <a:srgbClr val="1D9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916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一期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6968" y="20574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基础商业闭环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886968" y="2633472"/>
            <a:ext cx="18745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文案/图片基础生成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模型后台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普通任务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OSS资产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会员权益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充值支付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502152" y="1417320"/>
            <a:ext cx="2331720" cy="4343400"/>
          </a:xfrm>
          <a:prstGeom prst="roundRect">
            <a:avLst>
              <a:gd name="adj" fmla="val 3137"/>
            </a:avLst>
          </a:prstGeom>
          <a:solidFill>
            <a:srgbClr val="F0EBFF"/>
          </a:solidFill>
          <a:ln w="12700">
            <a:solidFill>
              <a:srgbClr val="7752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6916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752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二期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03320" y="20574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复杂内容生产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3703320" y="2633472"/>
            <a:ext cx="18745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LangGraph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父子任务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连续性中心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图文小说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短剧剧本/分镜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爆款拆解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318504" y="1417320"/>
            <a:ext cx="2331720" cy="4343400"/>
          </a:xfrm>
          <a:prstGeom prst="roundRect">
            <a:avLst>
              <a:gd name="adj" fmla="val 3137"/>
            </a:avLst>
          </a:prstGeom>
          <a:solidFill>
            <a:srgbClr val="FFF2E9"/>
          </a:solidFill>
          <a:ln w="12700">
            <a:solidFill>
              <a:srgbClr val="F08A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16916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A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三期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19672" y="20574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增长与财务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6519672" y="2633472"/>
            <a:ext cx="18745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营销中心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邀请注册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优惠券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活动任务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佣金分账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提现审核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9134856" y="1417320"/>
            <a:ext cx="2331720" cy="4343400"/>
          </a:xfrm>
          <a:prstGeom prst="roundRect">
            <a:avLst>
              <a:gd name="adj" fmla="val 3137"/>
            </a:avLst>
          </a:prstGeom>
          <a:solidFill>
            <a:srgbClr val="EAF2FF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36024" y="16916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7B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四期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36024" y="20574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治理与规模化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9336024" y="2633472"/>
            <a:ext cx="187452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内容安全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模型熔断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成本报表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模板市场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企业团队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API开放</a:t>
            </a:r>
            <a:endParaRPr lang="en-US" sz="8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 / 决策确认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当前关键决策汇总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37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29844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98448"/>
            <a:ext cx="73152" cy="658368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3544" y="1463040"/>
            <a:ext cx="329184" cy="329184"/>
          </a:xfrm>
          <a:prstGeom prst="ellipse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5270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344168" y="1463040"/>
            <a:ext cx="4215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产品定位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978408" y="1810512"/>
            <a:ext cx="458114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内容生产商业平台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6263640" y="129844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298448"/>
            <a:ext cx="73152" cy="658368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9944" y="1463040"/>
            <a:ext cx="329184" cy="329184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152704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6830568" y="1463040"/>
            <a:ext cx="4215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编排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64808" y="1810512"/>
            <a:ext cx="458114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LangGraph 作为工作流内核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777240" y="2267712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2267712"/>
            <a:ext cx="73152" cy="658368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" y="2432304"/>
            <a:ext cx="329184" cy="329184"/>
          </a:xfrm>
          <a:prstGeom prst="ellipse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" y="2496312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1344168" y="2432304"/>
            <a:ext cx="4215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任务系统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78408" y="2779776"/>
            <a:ext cx="458114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平台父子任务必须自建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6263640" y="2267712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2267712"/>
            <a:ext cx="73152" cy="658368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9944" y="2432304"/>
            <a:ext cx="329184" cy="329184"/>
          </a:xfrm>
          <a:prstGeom prst="ellipse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9944" y="2496312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6830568" y="2432304"/>
            <a:ext cx="4215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模型路由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6464808" y="2779776"/>
            <a:ext cx="458114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能力默认 + 模板覆盖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777240" y="323697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3236976"/>
            <a:ext cx="73152" cy="658368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3544" y="3401568"/>
            <a:ext cx="329184" cy="329184"/>
          </a:xfrm>
          <a:prstGeom prst="ellipse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" y="3465576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1344168" y="3401568"/>
            <a:ext cx="4215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权益中心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978408" y="3749040"/>
            <a:ext cx="458114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会员权益中心，不只是点数账本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6263640" y="323697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3640" y="3236976"/>
            <a:ext cx="73152" cy="658368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9944" y="3401568"/>
            <a:ext cx="329184" cy="329184"/>
          </a:xfrm>
          <a:prstGeom prst="ellipse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9944" y="3465576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6830568" y="3401568"/>
            <a:ext cx="4215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营销边界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6464808" y="3749040"/>
            <a:ext cx="458114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营销中心不直连模型路由</a:t>
            </a:r>
            <a:endParaRPr lang="en-US" sz="810" dirty="0"/>
          </a:p>
        </p:txBody>
      </p:sp>
      <p:sp>
        <p:nvSpPr>
          <p:cNvPr id="42" name="Shape 40"/>
          <p:cNvSpPr/>
          <p:nvPr/>
        </p:nvSpPr>
        <p:spPr>
          <a:xfrm>
            <a:off x="777240" y="420624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7240" y="4206240"/>
            <a:ext cx="73152" cy="658368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3544" y="4370832"/>
            <a:ext cx="329184" cy="329184"/>
          </a:xfrm>
          <a:prstGeom prst="ellipse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3544" y="443484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1344168" y="4370832"/>
            <a:ext cx="4215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文件存储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78408" y="4718304"/>
            <a:ext cx="458114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阿里云 OSS，私有签名 URL</a:t>
            </a:r>
            <a:endParaRPr lang="en-US" sz="810" dirty="0"/>
          </a:p>
        </p:txBody>
      </p:sp>
      <p:sp>
        <p:nvSpPr>
          <p:cNvPr id="48" name="Shape 46"/>
          <p:cNvSpPr/>
          <p:nvPr/>
        </p:nvSpPr>
        <p:spPr>
          <a:xfrm>
            <a:off x="6263640" y="420624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63640" y="4206240"/>
            <a:ext cx="73152" cy="658368"/>
          </a:xfrm>
          <a:prstGeom prst="rect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9944" y="4370832"/>
            <a:ext cx="329184" cy="329184"/>
          </a:xfrm>
          <a:prstGeom prst="ellipse">
            <a:avLst/>
          </a:prstGeom>
          <a:solidFill>
            <a:srgbClr val="4E9F5D"/>
          </a:solidFill>
          <a:ln w="12700">
            <a:solidFill>
              <a:srgbClr val="4E9F5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9944" y="443484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6830568" y="4370832"/>
            <a:ext cx="4215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5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长内容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6464808" y="4718304"/>
            <a:ext cx="4581144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632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小说/短剧共享连续性中心</a:t>
            </a:r>
            <a:endParaRPr lang="en-US" sz="810" dirty="0"/>
          </a:p>
        </p:txBody>
      </p:sp>
      <p:sp>
        <p:nvSpPr>
          <p:cNvPr id="54" name="Shape 52"/>
          <p:cNvSpPr/>
          <p:nvPr/>
        </p:nvSpPr>
        <p:spPr>
          <a:xfrm>
            <a:off x="2944368" y="5806440"/>
            <a:ext cx="6309360" cy="30175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0160">
            <a:solidFill>
              <a:srgbClr val="1322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99232" y="5884164"/>
            <a:ext cx="6199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322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下一步建议：MVP 范围确认 -&gt; 数据库设计 -&gt; API/任务状态机 -&gt; 原型稿</a:t>
            </a:r>
            <a:endParaRPr lang="en-US" sz="7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57800"/>
            <a:ext cx="12191695" cy="1600200"/>
          </a:xfrm>
          <a:prstGeom prst="rect">
            <a:avLst/>
          </a:prstGeom>
          <a:solidFill>
            <a:srgbClr val="1B344F"/>
          </a:solidFill>
          <a:ln w="12700">
            <a:solidFill>
              <a:srgbClr val="1B34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627632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这套系统的核心不是“更多 AI 功能”，而是可配置、可计费、可追踪、可扩展的内容生产基础设施。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49808" y="388620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203C59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886200"/>
            <a:ext cx="73152" cy="841248"/>
          </a:xfrm>
          <a:prstGeom prst="rect">
            <a:avLst/>
          </a:prstGeom>
          <a:solidFill>
            <a:srgbClr val="1D9A8A"/>
          </a:solidFill>
          <a:ln w="12700">
            <a:solidFill>
              <a:srgbClr val="1D9A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405079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生产引擎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50976" y="4398264"/>
            <a:ext cx="19751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DDE7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 + LangGraph + 任务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3429000" y="388620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203C59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3886200"/>
            <a:ext cx="73152" cy="841248"/>
          </a:xfrm>
          <a:prstGeom prst="rect">
            <a:avLst/>
          </a:prstGeom>
          <a:solidFill>
            <a:srgbClr val="F08A4B"/>
          </a:solidFill>
          <a:ln w="12700">
            <a:solidFill>
              <a:srgbClr val="F08A4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405079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商业闭环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30168" y="4398264"/>
            <a:ext cx="19751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DDE7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会员 + 支付 + 营销 + 分账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6108192" y="388620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203C59"/>
          </a:solidFill>
          <a:ln w="10160">
            <a:solidFill>
              <a:srgbClr val="E3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08192" y="3886200"/>
            <a:ext cx="73152" cy="841248"/>
          </a:xfrm>
          <a:prstGeom prst="rect">
            <a:avLst/>
          </a:prstGeom>
          <a:solidFill>
            <a:srgbClr val="7752C9"/>
          </a:solidFill>
          <a:ln w="12700">
            <a:solidFill>
              <a:srgbClr val="7752C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405079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长期壁垒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4398264"/>
            <a:ext cx="19751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DDE7F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连续性 + 资产 + 数据反馈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713232" y="58704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5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内容生成平台架构总纲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0" y="57607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Forest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内容生成平台架构总纲</dc:title>
  <dc:subject>AI 内容生成平台架构总纲</dc:subject>
  <dc:creator>Forest</dc:creator>
  <cp:lastModifiedBy>Forest</cp:lastModifiedBy>
  <cp:revision>1</cp:revision>
  <dcterms:created xsi:type="dcterms:W3CDTF">2026-05-04T06:26:32Z</dcterms:created>
  <dcterms:modified xsi:type="dcterms:W3CDTF">2026-05-04T06:26:32Z</dcterms:modified>
</cp:coreProperties>
</file>