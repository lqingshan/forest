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/>
  <p:notesTextViewPr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res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372B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640000" y="620000"/>
            <a:ext cx="2000000" cy="33000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00000" y="660000"/>
            <a:ext cx="18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/>
            <a:r>
              <a:rPr lang="zh-CN" sz="1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Architecture Overview</a:t>
            </a:r>
            <a:endParaRPr lang="zh-CN" sz="1200"/>
          </a:p>
        </p:txBody>
      </p:sp>
      <p:sp>
        <p:nvSpPr>
          <p:cNvPr id="5" name="Shape 5"/>
          <p:cNvSpPr txBox="1"/>
          <p:nvPr/>
        </p:nvSpPr>
        <p:spPr>
          <a:xfrm>
            <a:off x="820000" y="1300000"/>
            <a:ext cx="104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36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Forest 项目架构整理</a:t>
            </a:r>
            <a:endParaRPr lang="zh-CN" sz="3600"/>
          </a:p>
          <a:p>
            <a:pPr algn="l"/>
            <a:r>
              <a:rPr lang="zh-CN" sz="180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从设计目标、模块边界、前后端抽象和当前落地状态，解读 Forest 的模块化架构。</a:t>
            </a:r>
            <a:endParaRPr lang="zh-CN" sz="1800"/>
          </a:p>
        </p:txBody>
      </p:sp>
      <p:sp>
        <p:nvSpPr>
          <p:cNvPr id="6" name="Chip1"/>
          <p:cNvSpPr txBox="1"/>
          <p:nvPr/>
        </p:nvSpPr>
        <p:spPr>
          <a:xfrm>
            <a:off x="840000" y="4700000"/>
            <a:ext cx="2700000" cy="10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0" tIns="140000" rIns="180000" bIns="12000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business</a:t>
            </a:r>
            <a:endParaRPr lang="zh-CN" sz="2200"/>
          </a:p>
          <a:p>
            <a:pPr algn="l"/>
            <a:r>
              <a:rPr lang="zh-CN" sz="13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完整业务模块，前后端融合</a:t>
            </a:r>
            <a:endParaRPr lang="zh-CN" sz="1300"/>
          </a:p>
        </p:txBody>
      </p:sp>
      <p:sp>
        <p:nvSpPr>
          <p:cNvPr id="7" name="Chip2"/>
          <p:cNvSpPr txBox="1"/>
          <p:nvPr/>
        </p:nvSpPr>
        <p:spPr>
          <a:xfrm>
            <a:off x="4300000" y="4700000"/>
            <a:ext cx="2700000" cy="10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0" tIns="140000" rIns="180000" bIns="12000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apps</a:t>
            </a:r>
            <a:endParaRPr lang="zh-CN" sz="2200"/>
          </a:p>
          <a:p>
            <a:pPr algn="l"/>
            <a:r>
              <a:rPr lang="zh-CN" sz="13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组合多个 business，形成具体产品</a:t>
            </a:r>
            <a:endParaRPr lang="zh-CN" sz="1300"/>
          </a:p>
        </p:txBody>
      </p:sp>
      <p:sp>
        <p:nvSpPr>
          <p:cNvPr id="8" name="Chip3"/>
          <p:cNvSpPr txBox="1"/>
          <p:nvPr/>
        </p:nvSpPr>
        <p:spPr>
          <a:xfrm>
            <a:off x="7760000" y="4700000"/>
            <a:ext cx="2700000" cy="10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0" tIns="140000" rIns="180000" bIns="12000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base-*</a:t>
            </a:r>
            <a:endParaRPr lang="zh-CN" sz="2200"/>
          </a:p>
          <a:p>
            <a:pPr algn="l"/>
            <a:r>
              <a:rPr lang="zh-CN" sz="13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统一工程基础设施与公共能力</a:t>
            </a:r>
            <a:endParaRPr lang="zh-CN" sz="1300"/>
          </a:p>
        </p:txBody>
      </p:sp>
      <p:sp>
        <p:nvSpPr>
          <p:cNvPr id="9" name="Shape 9"/>
          <p:cNvSpPr txBox="1"/>
          <p:nvPr/>
        </p:nvSpPr>
        <p:spPr>
          <a:xfrm>
            <a:off x="840000" y="6080000"/>
            <a:ext cx="8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1200">
                <a:solidFill>
                  <a:srgbClr val="97BC62"/>
                </a:solidFill>
                <a:latin typeface="Arial"/>
                <a:ea typeface="PingFang SC"/>
                <a:cs typeface="Arial"/>
              </a:rPr>
              <a:t>关键词：高内聚、低耦合、应用编排、逻辑与 UI 分离</a:t>
            </a:r>
            <a:endParaRPr lang="zh-CN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sp>
        <p:nvSpPr>
          <p:cNvPr id="3" name="SectionPill"/>
          <p:cNvSpPr txBox="1"/>
          <p:nvPr/>
        </p:nvSpPr>
        <p:spPr>
          <a:xfrm>
            <a:off x="540000" y="340000"/>
            <a:ext cx="1800000" cy="36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0" tIns="0" rIns="0" bIns="0" anchor="ctr"/>
          <a:lstStyle/>
          <a:p>
            <a:pPr algn="c"/>
            <a:r>
              <a:rPr lang="zh-CN" sz="12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01</a:t>
            </a:r>
            <a:endParaRPr lang="zh-CN" sz="1200"/>
          </a:p>
        </p:txBody>
      </p:sp>
      <p:sp>
        <p:nvSpPr>
          <p:cNvPr id="4" name="Title"/>
          <p:cNvSpPr txBox="1"/>
          <p:nvPr/>
        </p:nvSpPr>
        <p:spPr>
          <a:xfrm>
            <a:off x="540000" y="76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26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设计目标与原则</a:t>
            </a:r>
            <a:endParaRPr lang="zh-CN" sz="2600"/>
          </a:p>
        </p:txBody>
      </p:sp>
      <p:sp>
        <p:nvSpPr>
          <p:cNvPr id="5" name="Shape 5"/>
          <p:cNvSpPr txBox="1"/>
          <p:nvPr/>
        </p:nvSpPr>
        <p:spPr>
          <a:xfrm>
            <a:off x="620000" y="1560000"/>
            <a:ext cx="2740000" cy="18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业务模块化</a:t>
            </a:r>
            <a:endParaRPr lang="zh-CN" sz="2200"/>
          </a:p>
          <a:p>
            <a:pPr algn="l"/>
            <a:r>
              <a:rPr lang="zh-CN" sz="14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以业务域为核心组织代码，而不是按纯技术层拆散。</a:t>
            </a:r>
            <a:endParaRPr lang="zh-CN" sz="1400"/>
          </a:p>
        </p:txBody>
      </p:sp>
      <p:sp>
        <p:nvSpPr>
          <p:cNvPr id="6" name="Shape 6"/>
          <p:cNvSpPr txBox="1"/>
          <p:nvPr/>
        </p:nvSpPr>
        <p:spPr>
          <a:xfrm>
            <a:off x="4140000" y="1560000"/>
            <a:ext cx="2740000" cy="18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多 App 组合</a:t>
            </a:r>
            <a:endParaRPr lang="zh-CN" sz="2200"/>
          </a:p>
          <a:p>
            <a:pPr algn="l"/>
            <a:r>
              <a:rPr lang="zh-CN" sz="14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通过 apps 层把多个 business 模块组装成不同产品。</a:t>
            </a:r>
            <a:endParaRPr lang="zh-CN" sz="1400"/>
          </a:p>
        </p:txBody>
      </p:sp>
      <p:sp>
        <p:nvSpPr>
          <p:cNvPr id="7" name="Shape 7"/>
          <p:cNvSpPr txBox="1"/>
          <p:nvPr/>
        </p:nvSpPr>
        <p:spPr>
          <a:xfrm>
            <a:off x="7660000" y="1560000"/>
            <a:ext cx="2740000" cy="18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高内聚低耦合</a:t>
            </a:r>
            <a:endParaRPr lang="zh-CN" sz="2200"/>
          </a:p>
          <a:p>
            <a:pPr algn="l"/>
            <a:r>
              <a:rPr lang="zh-CN" sz="14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让业务相关代码聚在一起，同时通过清晰边界降低模块耦合。</a:t>
            </a:r>
            <a:endParaRPr lang="zh-CN" sz="1400"/>
          </a:p>
        </p:txBody>
      </p:sp>
      <p:sp>
        <p:nvSpPr>
          <p:cNvPr id="8" name="Shape 8"/>
          <p:cNvSpPr txBox="1"/>
          <p:nvPr/>
        </p:nvSpPr>
        <p:spPr>
          <a:xfrm>
            <a:off x="620000" y="3920000"/>
            <a:ext cx="10480000" cy="148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前端细节抽象</a:t>
            </a:r>
            <a:endParaRPr lang="zh-CN" sz="2200"/>
          </a:p>
          <a:p>
            <a:pPr algn="l"/>
            <a:r>
              <a:rPr lang="zh-CN" sz="145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把业务逻辑沉到 types / api / composables，把不同端的界面表达留在 ui/admin、ui/mobile、ui/mp-weixin。</a:t>
            </a:r>
            <a:endParaRPr lang="zh-CN" sz="1450"/>
          </a:p>
          <a:p>
            <a:pPr algn="l"/>
            <a:r>
              <a:rPr lang="zh-CN" sz="1450">
                <a:solidFill>
                  <a:srgbClr val="5C6B7A"/>
                </a:solidFill>
                <a:latin typeface="Arial"/>
                <a:ea typeface="PingFang SC"/>
                <a:cs typeface="Arial"/>
              </a:rPr>
              <a:t>这样做的目标是：逻辑可复用，UI 可按端演化，app 只负责消费业务能力。</a:t>
            </a:r>
            <a:endParaRPr lang="zh-CN"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sp>
        <p:nvSpPr>
          <p:cNvPr id="3" name="SectionPill"/>
          <p:cNvSpPr txBox="1"/>
          <p:nvPr/>
        </p:nvSpPr>
        <p:spPr>
          <a:xfrm>
            <a:off x="540000" y="340000"/>
            <a:ext cx="1800000" cy="36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0" tIns="0" rIns="0" bIns="0" anchor="ctr"/>
          <a:lstStyle/>
          <a:p>
            <a:pPr algn="c"/>
            <a:r>
              <a:rPr lang="zh-CN" sz="12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02</a:t>
            </a:r>
            <a:endParaRPr lang="zh-CN" sz="1200"/>
          </a:p>
        </p:txBody>
      </p:sp>
      <p:sp>
        <p:nvSpPr>
          <p:cNvPr id="4" name="Title"/>
          <p:cNvSpPr txBox="1"/>
          <p:nvPr/>
        </p:nvSpPr>
        <p:spPr>
          <a:xfrm>
            <a:off x="540000" y="76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26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顶层目录职责</a:t>
            </a:r>
            <a:endParaRPr lang="zh-CN" sz="2600"/>
          </a:p>
        </p:txBody>
      </p:sp>
      <p:sp>
        <p:nvSpPr>
          <p:cNvPr id="5" name="Shape 5"/>
          <p:cNvSpPr txBox="1"/>
          <p:nvPr/>
        </p:nvSpPr>
        <p:spPr>
          <a:xfrm>
            <a:off x="620000" y="1500000"/>
            <a:ext cx="3560000" cy="18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4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business/</a:t>
            </a:r>
            <a:endParaRPr lang="zh-CN" sz="2400"/>
          </a:p>
          <a:p>
            <a:pPr algn="l"/>
            <a:r>
              <a:rPr lang="zh-CN" sz="16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业务模块层</a:t>
            </a:r>
            <a:endParaRPr lang="zh-CN" sz="1600"/>
          </a:p>
          <a:p>
            <a:pPr algn="l"/>
            <a:r>
              <a:rPr lang="zh-CN" sz="14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每个模块都应是完整业务能力单元，前后端成对存在。</a:t>
            </a:r>
            <a:endParaRPr lang="zh-CN" sz="1400"/>
          </a:p>
        </p:txBody>
      </p:sp>
      <p:sp>
        <p:nvSpPr>
          <p:cNvPr id="6" name="Shape 6"/>
          <p:cNvSpPr txBox="1"/>
          <p:nvPr/>
        </p:nvSpPr>
        <p:spPr>
          <a:xfrm>
            <a:off x="4300000" y="1500000"/>
            <a:ext cx="3560000" cy="18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4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apps/</a:t>
            </a:r>
            <a:endParaRPr lang="zh-CN" sz="2400"/>
          </a:p>
          <a:p>
            <a:pPr algn="l"/>
            <a:r>
              <a:rPr lang="zh-CN" sz="16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应用组合层</a:t>
            </a:r>
            <a:endParaRPr lang="zh-CN" sz="1600"/>
          </a:p>
          <a:p>
            <a:pPr algn="l"/>
            <a:r>
              <a:rPr lang="zh-CN" sz="14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负责把多个 business 模块编排成具体产品，而不是沉淀通用业务。</a:t>
            </a:r>
            <a:endParaRPr lang="zh-CN" sz="1400"/>
          </a:p>
        </p:txBody>
      </p:sp>
      <p:sp>
        <p:nvSpPr>
          <p:cNvPr id="7" name="Shape 7"/>
          <p:cNvSpPr txBox="1"/>
          <p:nvPr/>
        </p:nvSpPr>
        <p:spPr>
          <a:xfrm>
            <a:off x="7980000" y="1500000"/>
            <a:ext cx="3560000" cy="12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base-backend/</a:t>
            </a:r>
            <a:endParaRPr lang="zh-CN" sz="2200"/>
          </a:p>
          <a:p>
            <a:pPr algn="l"/>
            <a:r>
              <a:rPr lang="zh-CN" sz="138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后端基础设施层：父 POM、starter、统一异常与返回结构。</a:t>
            </a:r>
            <a:endParaRPr lang="zh-CN" sz="1380"/>
          </a:p>
        </p:txBody>
      </p:sp>
      <p:sp>
        <p:nvSpPr>
          <p:cNvPr id="8" name="Shape 8"/>
          <p:cNvSpPr txBox="1"/>
          <p:nvPr/>
        </p:nvSpPr>
        <p:spPr>
          <a:xfrm>
            <a:off x="7980000" y="2860000"/>
            <a:ext cx="3560000" cy="12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base-frontend/</a:t>
            </a:r>
            <a:endParaRPr lang="zh-CN" sz="2200"/>
          </a:p>
          <a:p>
            <a:pPr algn="l"/>
            <a:r>
              <a:rPr lang="zh-CN" sz="138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前端基础设施层：workspace、turbo、ui-kit、统一依赖。</a:t>
            </a:r>
            <a:endParaRPr lang="zh-CN" sz="1380"/>
          </a:p>
        </p:txBody>
      </p:sp>
      <p:sp>
        <p:nvSpPr>
          <p:cNvPr id="9" name="Shape 9"/>
          <p:cNvSpPr txBox="1"/>
          <p:nvPr/>
        </p:nvSpPr>
        <p:spPr>
          <a:xfrm>
            <a:off x="620000" y="3820000"/>
            <a:ext cx="7340000" cy="146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docs/ 与 docker/ 的角色</a:t>
            </a:r>
            <a:endParaRPr lang="zh-CN" sz="220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docs 用于外部化架构知识与演进计划；docker 用于提供本地数据库等运行环境。</a:t>
            </a:r>
            <a:endParaRPr lang="zh-CN" sz="1420"/>
          </a:p>
        </p:txBody>
      </p:sp>
      <p:sp>
        <p:nvSpPr>
          <p:cNvPr id="10" name="Shape 10"/>
          <p:cNvSpPr txBox="1"/>
          <p:nvPr/>
        </p:nvSpPr>
        <p:spPr>
          <a:xfrm>
            <a:off x="620000" y="5460000"/>
            <a:ext cx="10940000" cy="620000"/>
          </a:xfrm>
          <a:prstGeom prst="roundRect">
            <a:avLst/>
          </a:prstGeom>
          <a:solidFill>
            <a:srgbClr val="234F3D"/>
          </a:solidFill>
          <a:ln>
            <a:noFill/>
          </a:ln>
        </p:spPr>
        <p:txBody>
          <a:bodyPr wrap="square" lIns="180000" tIns="120000" rIns="180000" bIns="120000" anchor="t"/>
          <a:lstStyle/>
          <a:p>
            <a:pPr algn="l"/>
            <a:r>
              <a:rPr lang="zh-CN" sz="145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技术收益：让工程基础、业务沉淀与产品组合三层分离，降低共享层污染风险。</a:t>
            </a:r>
            <a:endParaRPr lang="zh-CN" sz="14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sp>
        <p:nvSpPr>
          <p:cNvPr id="3" name="SectionPill"/>
          <p:cNvSpPr txBox="1"/>
          <p:nvPr/>
        </p:nvSpPr>
        <p:spPr>
          <a:xfrm>
            <a:off x="540000" y="340000"/>
            <a:ext cx="1800000" cy="36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0" tIns="0" rIns="0" bIns="0" anchor="ctr"/>
          <a:lstStyle/>
          <a:p>
            <a:pPr algn="c"/>
            <a:r>
              <a:rPr lang="zh-CN" sz="12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03</a:t>
            </a:r>
            <a:endParaRPr lang="zh-CN" sz="1200"/>
          </a:p>
        </p:txBody>
      </p:sp>
      <p:sp>
        <p:nvSpPr>
          <p:cNvPr id="4" name="Title"/>
          <p:cNvSpPr txBox="1"/>
          <p:nvPr/>
        </p:nvSpPr>
        <p:spPr>
          <a:xfrm>
            <a:off x="540000" y="76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26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后端架构</a:t>
            </a:r>
            <a:endParaRPr lang="zh-CN" sz="2600"/>
          </a:p>
        </p:txBody>
      </p:sp>
      <p:sp>
        <p:nvSpPr>
          <p:cNvPr id="5" name="Shape 5"/>
          <p:cNvSpPr txBox="1"/>
          <p:nvPr/>
        </p:nvSpPr>
        <p:spPr>
          <a:xfrm>
            <a:off x="680000" y="1620000"/>
            <a:ext cx="3220000" cy="940000"/>
          </a:xfrm>
          <a:prstGeom prst="roundRect">
            <a:avLst/>
          </a:prstGeom>
          <a:solidFill>
            <a:srgbClr val="18372B"/>
          </a:solidFill>
          <a:ln>
            <a:noFill/>
          </a:ln>
        </p:spPr>
        <p:txBody>
          <a:bodyPr wrap="square" lIns="0" tIns="120000" rIns="0" bIns="0" anchor="ctr"/>
          <a:lstStyle/>
          <a:p>
            <a:pPr algn="c"/>
            <a:r>
              <a:rPr lang="zh-CN" sz="24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base-backend</a:t>
            </a:r>
            <a:endParaRPr lang="zh-CN" sz="2400"/>
          </a:p>
          <a:p>
            <a:pPr algn="c"/>
            <a:r>
              <a:rPr lang="zh-CN" sz="140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工程基础设施</a:t>
            </a:r>
            <a:endParaRPr lang="zh-CN" sz="1400"/>
          </a:p>
        </p:txBody>
      </p:sp>
      <p:sp>
        <p:nvSpPr>
          <p:cNvPr id="6" name="Shape 6"/>
          <p:cNvSpPr txBox="1"/>
          <p:nvPr/>
        </p:nvSpPr>
        <p:spPr>
          <a:xfrm>
            <a:off x="680000" y="2820000"/>
            <a:ext cx="3220000" cy="1180000"/>
          </a:xfrm>
          <a:prstGeom prst="roundRect">
            <a:avLst/>
          </a:prstGeom>
          <a:solidFill>
            <a:srgbClr val="E8F0E6"/>
          </a:solidFill>
          <a:ln w="12700">
            <a:solidFill>
              <a:srgbClr val="D8E0D9"/>
            </a:solidFill>
          </a:ln>
        </p:spPr>
        <p:txBody>
          <a:bodyPr wrap="square" lIns="0" tIns="140000" rIns="0" bIns="0" anchor="ctr"/>
          <a:lstStyle/>
          <a:p>
            <a:pPr algn="c"/>
            <a:r>
              <a:rPr lang="zh-CN" sz="24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business/*/backend</a:t>
            </a:r>
            <a:endParaRPr lang="zh-CN" sz="2400"/>
          </a:p>
          <a:p>
            <a:pPr algn="c"/>
            <a:r>
              <a:rPr lang="zh-CN" sz="14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实体、仓库、服务、控制器</a:t>
            </a:r>
            <a:endParaRPr lang="zh-CN" sz="1400"/>
          </a:p>
        </p:txBody>
      </p:sp>
      <p:sp>
        <p:nvSpPr>
          <p:cNvPr id="7" name="Shape 7"/>
          <p:cNvSpPr txBox="1"/>
          <p:nvPr/>
        </p:nvSpPr>
        <p:spPr>
          <a:xfrm>
            <a:off x="680000" y="4300000"/>
            <a:ext cx="3220000" cy="9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0" tIns="120000" rIns="0" bIns="0" anchor="ctr"/>
          <a:lstStyle/>
          <a:p>
            <a:pPr algn="c"/>
            <a:r>
              <a:rPr lang="zh-CN" sz="24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apps/*/backend</a:t>
            </a:r>
            <a:endParaRPr lang="zh-CN" sz="2400"/>
          </a:p>
          <a:p>
            <a:pPr algn="c"/>
            <a:r>
              <a:rPr lang="zh-CN" sz="14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启动入口与应用编排</a:t>
            </a:r>
            <a:endParaRPr lang="zh-CN" sz="1400"/>
          </a:p>
        </p:txBody>
      </p:sp>
      <p:sp>
        <p:nvSpPr>
          <p:cNvPr id="8" name="Shape 8"/>
          <p:cNvSpPr txBox="1"/>
          <p:nvPr/>
        </p:nvSpPr>
        <p:spPr>
          <a:xfrm>
            <a:off x="4200000" y="1520000"/>
            <a:ext cx="7240000" cy="3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business 后端包路径的职责</a:t>
            </a:r>
            <a:endParaRPr lang="zh-CN" sz="2200"/>
          </a:p>
          <a:p>
            <a:pPr algn="l"/>
            <a:r>
              <a:rPr lang="zh-CN" sz="14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entity：持久化实体与领域状态</a:t>
            </a:r>
            <a:endParaRPr lang="zh-CN" sz="1400"/>
          </a:p>
          <a:p>
            <a:pPr algn="l"/>
            <a:r>
              <a:rPr lang="zh-CN" sz="14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repository：数据库访问边界</a:t>
            </a:r>
            <a:endParaRPr lang="zh-CN" sz="1400"/>
          </a:p>
          <a:p>
            <a:pPr algn="l"/>
            <a:r>
              <a:rPr lang="zh-CN" sz="14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service：模块内部业务规则</a:t>
            </a:r>
            <a:endParaRPr lang="zh-CN" sz="1400"/>
          </a:p>
          <a:p>
            <a:pPr algn="l"/>
            <a:r>
              <a:rPr lang="zh-CN" sz="14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controller：对外 API 边界</a:t>
            </a:r>
            <a:endParaRPr lang="zh-CN" sz="1400"/>
          </a:p>
          <a:p>
            <a:pPr algn="l"/>
            <a:r>
              <a:rPr lang="zh-CN" sz="14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config / context / dto：配置、上下文、接口模型</a:t>
            </a:r>
            <a:endParaRPr lang="zh-CN" sz="1400"/>
          </a:p>
        </p:txBody>
      </p:sp>
      <p:sp>
        <p:nvSpPr>
          <p:cNvPr id="9" name="Shape 9"/>
          <p:cNvSpPr txBox="1"/>
          <p:nvPr/>
        </p:nvSpPr>
        <p:spPr>
          <a:xfrm>
            <a:off x="4200000" y="5100000"/>
            <a:ext cx="7240000" cy="78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145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技术含义：后端不是按 controller/service 横切复用，而是按业务域形成可装配模块。</a:t>
            </a:r>
            <a:endParaRPr lang="zh-CN" sz="14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sp>
        <p:nvSpPr>
          <p:cNvPr id="3" name="SectionPill"/>
          <p:cNvSpPr txBox="1"/>
          <p:nvPr/>
        </p:nvSpPr>
        <p:spPr>
          <a:xfrm>
            <a:off x="540000" y="340000"/>
            <a:ext cx="1800000" cy="36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0" tIns="0" rIns="0" bIns="0" anchor="ctr"/>
          <a:lstStyle/>
          <a:p>
            <a:pPr algn="c"/>
            <a:r>
              <a:rPr lang="zh-CN" sz="12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04</a:t>
            </a:r>
            <a:endParaRPr lang="zh-CN" sz="1200"/>
          </a:p>
        </p:txBody>
      </p:sp>
      <p:sp>
        <p:nvSpPr>
          <p:cNvPr id="4" name="Title"/>
          <p:cNvSpPr txBox="1"/>
          <p:nvPr/>
        </p:nvSpPr>
        <p:spPr>
          <a:xfrm>
            <a:off x="540000" y="76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26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当前模块版图</a:t>
            </a:r>
            <a:endParaRPr lang="zh-CN" sz="2600"/>
          </a:p>
        </p:txBody>
      </p:sp>
      <p:sp>
        <p:nvSpPr>
          <p:cNvPr id="5" name="Shape 5"/>
          <p:cNvSpPr txBox="1"/>
          <p:nvPr/>
        </p:nvSpPr>
        <p:spPr>
          <a:xfrm>
            <a:off x="620000" y="1560000"/>
            <a:ext cx="498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1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business/user</a:t>
            </a:r>
            <a:endParaRPr lang="zh-CN" sz="2100"/>
          </a:p>
          <a:p>
            <a:pPr algn="l"/>
            <a:r>
              <a:rPr lang="zh-CN" sz="16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用户域模块</a:t>
            </a:r>
            <a:endParaRPr lang="zh-CN" sz="1600"/>
          </a:p>
          <a:p>
            <a:pPr algn="l"/>
            <a:r>
              <a:rPr lang="zh-CN" sz="136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提供用户实体、Repository、Service、Controller，是当前最标准的业务模块模板之一。</a:t>
            </a:r>
            <a:endParaRPr lang="zh-CN" sz="1360"/>
          </a:p>
        </p:txBody>
      </p:sp>
      <p:sp>
        <p:nvSpPr>
          <p:cNvPr id="6" name="Shape 6"/>
          <p:cNvSpPr txBox="1"/>
          <p:nvPr/>
        </p:nvSpPr>
        <p:spPr>
          <a:xfrm>
            <a:off x="6180000" y="1560000"/>
            <a:ext cx="498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1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business/account</a:t>
            </a:r>
            <a:endParaRPr lang="zh-CN" sz="2100"/>
          </a:p>
          <a:p>
            <a:pPr algn="l"/>
            <a:r>
              <a:rPr lang="zh-CN" sz="16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认证域模块</a:t>
            </a:r>
            <a:endParaRPr lang="zh-CN" sz="1600"/>
          </a:p>
          <a:p>
            <a:pPr algn="l"/>
            <a:r>
              <a:rPr lang="zh-CN" sz="136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把账号凭证、短信验证码、JWT、微信登录、Redis session、鉴权上下文整合为独立业务域。</a:t>
            </a:r>
            <a:endParaRPr lang="zh-CN" sz="1360"/>
          </a:p>
        </p:txBody>
      </p:sp>
      <p:sp>
        <p:nvSpPr>
          <p:cNvPr id="7" name="Shape 7"/>
          <p:cNvSpPr txBox="1"/>
          <p:nvPr/>
        </p:nvSpPr>
        <p:spPr>
          <a:xfrm>
            <a:off x="620000" y="3740000"/>
            <a:ext cx="498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1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apps/admin</a:t>
            </a:r>
            <a:endParaRPr lang="zh-CN" sz="2100"/>
          </a:p>
          <a:p>
            <a:pPr algn="l"/>
            <a:r>
              <a:rPr lang="zh-CN" sz="16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管理后台应用</a:t>
            </a:r>
            <a:endParaRPr lang="zh-CN" sz="1600"/>
          </a:p>
          <a:p>
            <a:pPr algn="l"/>
            <a:r>
              <a:rPr lang="zh-CN" sz="136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理论上应作为 composition root，负责装配多个 business 模块并承载 admin 应用配置。</a:t>
            </a:r>
            <a:endParaRPr lang="zh-CN" sz="1360"/>
          </a:p>
        </p:txBody>
      </p:sp>
      <p:sp>
        <p:nvSpPr>
          <p:cNvPr id="8" name="Shape 8"/>
          <p:cNvSpPr txBox="1"/>
          <p:nvPr/>
        </p:nvSpPr>
        <p:spPr>
          <a:xfrm>
            <a:off x="6180000" y="3740000"/>
            <a:ext cx="498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1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apps/trade-leads</a:t>
            </a:r>
            <a:endParaRPr lang="zh-CN" sz="2100"/>
          </a:p>
          <a:p>
            <a:pPr algn="l"/>
            <a:r>
              <a:rPr lang="zh-CN" sz="16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外贸线索应用</a:t>
            </a:r>
            <a:endParaRPr lang="zh-CN" sz="1600"/>
          </a:p>
          <a:p>
            <a:pPr algn="l"/>
            <a:r>
              <a:rPr lang="zh-CN" sz="136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当前仍偏重，承载了 leads / unlock / point 等实现，目标是进一步瘦身成应用编排层。</a:t>
            </a:r>
            <a:endParaRPr lang="zh-CN" sz="136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sp>
        <p:nvSpPr>
          <p:cNvPr id="3" name="SectionPill"/>
          <p:cNvSpPr txBox="1"/>
          <p:nvPr/>
        </p:nvSpPr>
        <p:spPr>
          <a:xfrm>
            <a:off x="540000" y="340000"/>
            <a:ext cx="1800000" cy="36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0" tIns="0" rIns="0" bIns="0" anchor="ctr"/>
          <a:lstStyle/>
          <a:p>
            <a:pPr algn="c"/>
            <a:r>
              <a:rPr lang="zh-CN" sz="12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05</a:t>
            </a:r>
            <a:endParaRPr lang="zh-CN" sz="1200"/>
          </a:p>
        </p:txBody>
      </p:sp>
      <p:sp>
        <p:nvSpPr>
          <p:cNvPr id="4" name="Title"/>
          <p:cNvSpPr txBox="1"/>
          <p:nvPr/>
        </p:nvSpPr>
        <p:spPr>
          <a:xfrm>
            <a:off x="540000" y="76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26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前端架构</a:t>
            </a:r>
            <a:endParaRPr lang="zh-CN" sz="2600"/>
          </a:p>
        </p:txBody>
      </p:sp>
      <p:sp>
        <p:nvSpPr>
          <p:cNvPr id="5" name="Shape 5"/>
          <p:cNvSpPr txBox="1"/>
          <p:nvPr/>
        </p:nvSpPr>
        <p:spPr>
          <a:xfrm>
            <a:off x="640000" y="1620000"/>
            <a:ext cx="3180000" cy="13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3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base-frontend</a:t>
            </a:r>
            <a:endParaRPr lang="zh-CN" sz="2300"/>
          </a:p>
          <a:p>
            <a:pPr algn="l"/>
            <a:r>
              <a:rPr lang="zh-CN" sz="140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workspace、turbo、统一依赖版本与工程控制面。</a:t>
            </a:r>
            <a:endParaRPr lang="zh-CN" sz="1400"/>
          </a:p>
        </p:txBody>
      </p:sp>
      <p:sp>
        <p:nvSpPr>
          <p:cNvPr id="6" name="Shape 6"/>
          <p:cNvSpPr txBox="1"/>
          <p:nvPr/>
        </p:nvSpPr>
        <p:spPr>
          <a:xfrm>
            <a:off x="640000" y="3180000"/>
            <a:ext cx="3180000" cy="116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1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packages/ui-kit</a:t>
            </a:r>
            <a:endParaRPr lang="zh-CN" sz="2100"/>
          </a:p>
          <a:p>
            <a:pPr algn="l"/>
            <a:r>
              <a:rPr lang="zh-CN" sz="138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最小公共 UI 层，不承载具体业务语义。</a:t>
            </a:r>
            <a:endParaRPr lang="zh-CN" sz="1380"/>
          </a:p>
        </p:txBody>
      </p:sp>
      <p:sp>
        <p:nvSpPr>
          <p:cNvPr id="7" name="Shape 7"/>
          <p:cNvSpPr txBox="1"/>
          <p:nvPr/>
        </p:nvSpPr>
        <p:spPr>
          <a:xfrm>
            <a:off x="4200000" y="1560000"/>
            <a:ext cx="70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3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business/*/frontend</a:t>
            </a:r>
            <a:endParaRPr lang="zh-CN" sz="2300"/>
          </a:p>
          <a:p>
            <a:pPr algn="l"/>
            <a:r>
              <a:rPr lang="zh-CN" sz="145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内部 npm 包，不是页面目录，而是业务能力包。</a:t>
            </a:r>
            <a:endParaRPr lang="zh-CN" sz="1450"/>
          </a:p>
          <a:p>
            <a:pPr algn="l"/>
            <a:r>
              <a:rPr lang="zh-CN" sz="1380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例如：@forest/user、@forest/account</a:t>
            </a:r>
            <a:endParaRPr lang="zh-CN" sz="1380"/>
          </a:p>
        </p:txBody>
      </p:sp>
      <p:sp>
        <p:nvSpPr>
          <p:cNvPr id="8" name="Shape 8"/>
          <p:cNvSpPr txBox="1"/>
          <p:nvPr/>
        </p:nvSpPr>
        <p:spPr>
          <a:xfrm>
            <a:off x="4200000" y="3360000"/>
            <a:ext cx="7080000" cy="128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3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apps/*/frontend</a:t>
            </a:r>
            <a:endParaRPr lang="zh-CN" sz="230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消费多个 business 包，负责应用壳、页面装配与产品级界面。</a:t>
            </a:r>
            <a:endParaRPr lang="zh-CN" sz="1420"/>
          </a:p>
        </p:txBody>
      </p:sp>
      <p:sp>
        <p:nvSpPr>
          <p:cNvPr id="9" name="Shape 9"/>
          <p:cNvSpPr txBox="1"/>
          <p:nvPr/>
        </p:nvSpPr>
        <p:spPr>
          <a:xfrm>
            <a:off x="4200000" y="4940000"/>
            <a:ext cx="7080000" cy="760000"/>
          </a:xfrm>
          <a:prstGeom prst="roundRect">
            <a:avLst/>
          </a:prstGeom>
          <a:solidFill>
            <a:srgbClr val="234F3D"/>
          </a:solidFill>
          <a:ln>
            <a:noFill/>
          </a:ln>
        </p:spPr>
        <p:txBody>
          <a:bodyPr wrap="square" lIns="180000" tIns="120000" rIns="180000" bIns="120000" anchor="t"/>
          <a:lstStyle/>
          <a:p>
            <a:pPr algn="l"/>
            <a:r>
              <a:rPr lang="zh-CN" sz="144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技术重点：复用建立在“业务包”之上，而不是建立在某个 app 的页面代码之上。</a:t>
            </a:r>
            <a:endParaRPr lang="zh-CN" sz="144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sp>
        <p:nvSpPr>
          <p:cNvPr id="3" name="SectionPill"/>
          <p:cNvSpPr txBox="1"/>
          <p:nvPr/>
        </p:nvSpPr>
        <p:spPr>
          <a:xfrm>
            <a:off x="540000" y="340000"/>
            <a:ext cx="1800000" cy="36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0" tIns="0" rIns="0" bIns="0" anchor="ctr"/>
          <a:lstStyle/>
          <a:p>
            <a:pPr algn="c"/>
            <a:r>
              <a:rPr lang="zh-CN" sz="12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06</a:t>
            </a:r>
            <a:endParaRPr lang="zh-CN" sz="1200"/>
          </a:p>
        </p:txBody>
      </p:sp>
      <p:sp>
        <p:nvSpPr>
          <p:cNvPr id="4" name="Title"/>
          <p:cNvSpPr txBox="1"/>
          <p:nvPr/>
        </p:nvSpPr>
        <p:spPr>
          <a:xfrm>
            <a:off x="540000" y="76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26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前端抽象方式</a:t>
            </a:r>
            <a:endParaRPr lang="zh-CN" sz="2600"/>
          </a:p>
        </p:txBody>
      </p:sp>
      <p:sp>
        <p:nvSpPr>
          <p:cNvPr id="5" name="Shape 5"/>
          <p:cNvSpPr txBox="1"/>
          <p:nvPr/>
        </p:nvSpPr>
        <p:spPr>
          <a:xfrm>
            <a:off x="640000" y="2220000"/>
            <a:ext cx="2400000" cy="11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20000" tIns="130000" rIns="120000" bIns="120000" anchor="ctr"/>
          <a:lstStyle/>
          <a:p>
            <a:pPr algn="c"/>
            <a:r>
              <a:rPr lang="zh-CN" sz="20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types.ts</a:t>
            </a:r>
            <a:endParaRPr lang="zh-CN" sz="2000"/>
          </a:p>
          <a:p>
            <a:pPr algn="c"/>
            <a:r>
              <a:rPr lang="zh-CN" sz="13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契约类型</a:t>
            </a:r>
            <a:endParaRPr lang="zh-CN" sz="1320"/>
          </a:p>
        </p:txBody>
      </p:sp>
      <p:sp>
        <p:nvSpPr>
          <p:cNvPr id="6" name="Shape 6"/>
          <p:cNvSpPr txBox="1"/>
          <p:nvPr/>
        </p:nvSpPr>
        <p:spPr>
          <a:xfrm>
            <a:off x="3340000" y="2220000"/>
            <a:ext cx="2400000" cy="116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120000" tIns="130000" rIns="120000" bIns="120000" anchor="ctr"/>
          <a:lstStyle/>
          <a:p>
            <a:pPr algn="c"/>
            <a:r>
              <a:rPr lang="zh-CN" sz="20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api.ts</a:t>
            </a:r>
            <a:endParaRPr lang="zh-CN" sz="2000"/>
          </a:p>
          <a:p>
            <a:pPr algn="c"/>
            <a:r>
              <a:rPr lang="zh-CN" sz="13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接口调用</a:t>
            </a:r>
            <a:endParaRPr lang="zh-CN" sz="1320"/>
          </a:p>
        </p:txBody>
      </p:sp>
      <p:sp>
        <p:nvSpPr>
          <p:cNvPr id="7" name="Shape 7"/>
          <p:cNvSpPr txBox="1"/>
          <p:nvPr/>
        </p:nvSpPr>
        <p:spPr>
          <a:xfrm>
            <a:off x="6040000" y="2220000"/>
            <a:ext cx="2400000" cy="11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20000" tIns="130000" rIns="120000" bIns="120000" anchor="ctr"/>
          <a:lstStyle/>
          <a:p>
            <a:pPr algn="c"/>
            <a:r>
              <a:rPr lang="zh-CN" sz="20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composables.ts</a:t>
            </a:r>
            <a:endParaRPr lang="zh-CN" sz="2000"/>
          </a:p>
          <a:p>
            <a:pPr algn="c"/>
            <a:r>
              <a:rPr lang="zh-CN" sz="13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可复用业务逻辑</a:t>
            </a:r>
            <a:endParaRPr lang="zh-CN" sz="1320"/>
          </a:p>
        </p:txBody>
      </p:sp>
      <p:sp>
        <p:nvSpPr>
          <p:cNvPr id="8" name="Shape 8"/>
          <p:cNvSpPr txBox="1"/>
          <p:nvPr/>
        </p:nvSpPr>
        <p:spPr>
          <a:xfrm>
            <a:off x="8740000" y="2220000"/>
            <a:ext cx="2400000" cy="116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120000" tIns="130000" rIns="120000" bIns="120000" anchor="ctr"/>
          <a:lstStyle/>
          <a:p>
            <a:pPr algn="c"/>
            <a:r>
              <a:rPr lang="zh-CN" sz="20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ui/*</a:t>
            </a:r>
            <a:endParaRPr lang="zh-CN" sz="2000"/>
          </a:p>
          <a:p>
            <a:pPr algn="c"/>
            <a:r>
              <a:rPr lang="zh-CN" sz="13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端侧界面表达</a:t>
            </a:r>
            <a:endParaRPr lang="zh-CN" sz="1320"/>
          </a:p>
        </p:txBody>
      </p:sp>
      <p:sp>
        <p:nvSpPr>
          <p:cNvPr id="9" name="Shape 9"/>
          <p:cNvSpPr txBox="1"/>
          <p:nvPr/>
        </p:nvSpPr>
        <p:spPr>
          <a:xfrm>
            <a:off x="640000" y="4080000"/>
            <a:ext cx="10340000" cy="13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这套抽象的核心</a:t>
            </a:r>
            <a:endParaRPr lang="zh-CN" sz="220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业务逻辑收敛到 types / api / composables</a:t>
            </a:r>
            <a:endParaRPr lang="zh-CN" sz="142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UI 差异留给 admin / mobile / mp-weixin</a:t>
            </a:r>
            <a:endParaRPr lang="zh-CN" sz="142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目标是逻辑可复用，UI 可按端独立演化</a:t>
            </a:r>
            <a:endParaRPr lang="zh-CN" sz="1420"/>
          </a:p>
        </p:txBody>
      </p:sp>
      <p:sp>
        <p:nvSpPr>
          <p:cNvPr id="10" name="Shape 10"/>
          <p:cNvSpPr txBox="1"/>
          <p:nvPr/>
        </p:nvSpPr>
        <p:spPr>
          <a:xfrm>
            <a:off x="640000" y="5600000"/>
            <a:ext cx="10340000" cy="520000"/>
          </a:xfrm>
          <a:prstGeom prst="roundRect">
            <a:avLst/>
          </a:prstGeom>
          <a:solidFill>
            <a:srgbClr val="234F3D"/>
          </a:solidFill>
          <a:ln>
            <a:noFill/>
          </a:ln>
        </p:spPr>
        <p:txBody>
          <a:bodyPr wrap="square" lIns="180000" tIns="100000" rIns="180000" bIns="100000" anchor="t"/>
          <a:lstStyle/>
          <a:p>
            <a:pPr algn="l"/>
            <a:r>
              <a:rPr lang="zh-CN" sz="142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结论：前端的复用单位不是页面，而是“面向业务域的能力包”。</a:t>
            </a:r>
            <a:endParaRPr lang="zh-CN" sz="14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sp>
        <p:nvSpPr>
          <p:cNvPr id="3" name="SectionPill"/>
          <p:cNvSpPr txBox="1"/>
          <p:nvPr/>
        </p:nvSpPr>
        <p:spPr>
          <a:xfrm>
            <a:off x="540000" y="340000"/>
            <a:ext cx="1800000" cy="36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0" tIns="0" rIns="0" bIns="0" anchor="ctr"/>
          <a:lstStyle/>
          <a:p>
            <a:pPr algn="c"/>
            <a:r>
              <a:rPr lang="zh-CN" sz="12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07</a:t>
            </a:r>
            <a:endParaRPr lang="zh-CN" sz="1200"/>
          </a:p>
        </p:txBody>
      </p:sp>
      <p:sp>
        <p:nvSpPr>
          <p:cNvPr id="4" name="Title"/>
          <p:cNvSpPr txBox="1"/>
          <p:nvPr/>
        </p:nvSpPr>
        <p:spPr>
          <a:xfrm>
            <a:off x="540000" y="76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26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组合规则与依赖方向</a:t>
            </a:r>
            <a:endParaRPr lang="zh-CN" sz="2600"/>
          </a:p>
        </p:txBody>
      </p:sp>
      <p:sp>
        <p:nvSpPr>
          <p:cNvPr id="5" name="Shape 5"/>
          <p:cNvSpPr txBox="1"/>
          <p:nvPr/>
        </p:nvSpPr>
        <p:spPr>
          <a:xfrm>
            <a:off x="620000" y="1540000"/>
            <a:ext cx="5080000" cy="248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3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推荐的依赖方向</a:t>
            </a:r>
            <a:endParaRPr lang="zh-CN" sz="230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base-* 被所有模块依赖</a:t>
            </a:r>
            <a:endParaRPr lang="zh-CN" sz="142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business/* 沉淀业务能力</a:t>
            </a:r>
            <a:endParaRPr lang="zh-CN" sz="142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apps/* 依赖多个 business 做产品组合</a:t>
            </a:r>
            <a:endParaRPr lang="zh-CN" sz="142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跨模块流程放在 apps 层编排</a:t>
            </a:r>
            <a:endParaRPr lang="zh-CN" sz="1420"/>
          </a:p>
        </p:txBody>
      </p:sp>
      <p:sp>
        <p:nvSpPr>
          <p:cNvPr id="6" name="Shape 6"/>
          <p:cNvSpPr txBox="1"/>
          <p:nvPr/>
        </p:nvSpPr>
        <p:spPr>
          <a:xfrm>
            <a:off x="5980000" y="1540000"/>
            <a:ext cx="5580000" cy="24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3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不推荐的方向</a:t>
            </a:r>
            <a:endParaRPr lang="zh-CN" sz="230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business 依赖某个 app</a:t>
            </a:r>
            <a:endParaRPr lang="zh-CN" sz="142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base-* 长出 user / account / leads 业务逻辑</a:t>
            </a:r>
            <a:endParaRPr lang="zh-CN" sz="142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app 继续沉淀大量可复用业务代码</a:t>
            </a:r>
            <a:endParaRPr lang="zh-CN" sz="142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不同 business 相互穿透、相互知道太多</a:t>
            </a:r>
            <a:endParaRPr lang="zh-CN" sz="1420"/>
          </a:p>
        </p:txBody>
      </p:sp>
      <p:sp>
        <p:nvSpPr>
          <p:cNvPr id="7" name="Shape 7"/>
          <p:cNvSpPr txBox="1"/>
          <p:nvPr/>
        </p:nvSpPr>
        <p:spPr>
          <a:xfrm>
            <a:off x="620000" y="4380000"/>
            <a:ext cx="10940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为什么 apps 负责编排？</a:t>
            </a:r>
            <a:endParaRPr lang="zh-CN" sz="2200"/>
          </a:p>
          <a:p>
            <a:pPr algn="l"/>
            <a:r>
              <a:rPr lang="zh-CN" sz="144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因为像“线索解锁”这类流程天然跨越 account / points / leads，多模块流程更适合作为应用层能力来组织。</a:t>
            </a:r>
            <a:endParaRPr lang="zh-CN" sz="1440"/>
          </a:p>
        </p:txBody>
      </p:sp>
      <p:sp>
        <p:nvSpPr>
          <p:cNvPr id="8" name="Shape 8"/>
          <p:cNvSpPr txBox="1"/>
          <p:nvPr/>
        </p:nvSpPr>
        <p:spPr>
          <a:xfrm>
            <a:off x="620000" y="5640000"/>
            <a:ext cx="10940000" cy="480000"/>
          </a:xfrm>
          <a:prstGeom prst="roundRect">
            <a:avLst/>
          </a:prstGeom>
          <a:solidFill>
            <a:srgbClr val="18372B"/>
          </a:solidFill>
          <a:ln>
            <a:noFill/>
          </a:ln>
        </p:spPr>
        <p:txBody>
          <a:bodyPr wrap="square" lIns="180000" tIns="90000" rIns="180000" bIns="90000" anchor="t"/>
          <a:lstStyle/>
          <a:p>
            <a:pPr algn="l"/>
            <a:r>
              <a:rPr lang="zh-CN" sz="145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技术本质：business 提供稳定能力，apps 负责组合这些能力达成具体产品场景。</a:t>
            </a:r>
            <a:endParaRPr lang="zh-CN" sz="14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</p:sp>
      <p:sp>
        <p:nvSpPr>
          <p:cNvPr id="3" name="SectionPill"/>
          <p:cNvSpPr txBox="1"/>
          <p:nvPr/>
        </p:nvSpPr>
        <p:spPr>
          <a:xfrm>
            <a:off x="540000" y="340000"/>
            <a:ext cx="1800000" cy="36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0" tIns="0" rIns="0" bIns="0" anchor="ctr"/>
          <a:lstStyle/>
          <a:p>
            <a:pPr algn="c"/>
            <a:r>
              <a:rPr lang="zh-CN" sz="1200" b="1">
                <a:solidFill>
                  <a:srgbClr val="234F3D"/>
                </a:solidFill>
                <a:latin typeface="Arial"/>
                <a:ea typeface="PingFang SC"/>
                <a:cs typeface="Arial"/>
              </a:rPr>
              <a:t>08</a:t>
            </a:r>
            <a:endParaRPr lang="zh-CN" sz="1200"/>
          </a:p>
        </p:txBody>
      </p:sp>
      <p:sp>
        <p:nvSpPr>
          <p:cNvPr id="4" name="Title"/>
          <p:cNvSpPr txBox="1"/>
          <p:nvPr/>
        </p:nvSpPr>
        <p:spPr>
          <a:xfrm>
            <a:off x="540000" y="76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CN" sz="26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当前状态与结论</a:t>
            </a:r>
            <a:endParaRPr lang="zh-CN" sz="2600"/>
          </a:p>
        </p:txBody>
      </p:sp>
      <p:sp>
        <p:nvSpPr>
          <p:cNvPr id="5" name="Shape 5"/>
          <p:cNvSpPr txBox="1"/>
          <p:nvPr/>
        </p:nvSpPr>
        <p:spPr>
          <a:xfrm>
            <a:off x="640000" y="1600000"/>
            <a:ext cx="4860000" cy="2380000"/>
          </a:xfrm>
          <a:prstGeom prst="roundRect">
            <a:avLst/>
          </a:prstGeom>
          <a:solidFill>
            <a:srgbClr val="E8F0E6"/>
          </a:solidFill>
          <a:ln>
            <a:noFill/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3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已经落地</a:t>
            </a:r>
            <a:endParaRPr lang="zh-CN" sz="230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base + business + apps 的三层结构已形成</a:t>
            </a:r>
            <a:endParaRPr lang="zh-CN" sz="142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account 模块已体现独立认证域方向</a:t>
            </a:r>
            <a:endParaRPr lang="zh-CN" sz="142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前端已落实 types / api / composables / ui 分层</a:t>
            </a:r>
            <a:endParaRPr lang="zh-CN" sz="1420"/>
          </a:p>
        </p:txBody>
      </p:sp>
      <p:sp>
        <p:nvSpPr>
          <p:cNvPr id="6" name="Shape 6"/>
          <p:cNvSpPr txBox="1"/>
          <p:nvPr/>
        </p:nvSpPr>
        <p:spPr>
          <a:xfrm>
            <a:off x="5780000" y="1600000"/>
            <a:ext cx="5800000" cy="23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3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仍在演进</a:t>
            </a:r>
            <a:endParaRPr lang="zh-CN" sz="230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trade-leads 仍偏重，尚未完全瘦身为编排层</a:t>
            </a:r>
            <a:endParaRPr lang="zh-CN" sz="142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user、points、leads 的边界还在继续收敛</a:t>
            </a:r>
            <a:endParaRPr lang="zh-CN" sz="1420"/>
          </a:p>
          <a:p>
            <a:pPr algn="l"/>
            <a:r>
              <a:rPr lang="zh-CN" sz="142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• 部分 app 层装配还没有完全贴合目标架构</a:t>
            </a:r>
            <a:endParaRPr lang="zh-CN" sz="1420"/>
          </a:p>
        </p:txBody>
      </p:sp>
      <p:sp>
        <p:nvSpPr>
          <p:cNvPr id="7" name="Shape 7"/>
          <p:cNvSpPr txBox="1"/>
          <p:nvPr/>
        </p:nvSpPr>
        <p:spPr>
          <a:xfrm>
            <a:off x="640000" y="4360000"/>
            <a:ext cx="10940000" cy="11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D9"/>
            </a:solidFill>
          </a:ln>
        </p:spPr>
        <p:txBody>
          <a:bodyPr wrap="square" lIns="152400" tIns="91440" rIns="152400" bIns="91440" anchor="t"/>
          <a:lstStyle/>
          <a:p>
            <a:pPr algn="l"/>
            <a:r>
              <a:rPr lang="zh-CN" sz="2200" b="1">
                <a:solidFill>
                  <a:srgbClr val="18372B"/>
                </a:solidFill>
                <a:latin typeface="Arial"/>
                <a:ea typeface="PingFang SC"/>
                <a:cs typeface="Arial"/>
              </a:rPr>
              <a:t>最终结论</a:t>
            </a:r>
            <a:endParaRPr lang="zh-CN" sz="2200"/>
          </a:p>
          <a:p>
            <a:pPr algn="l"/>
            <a:r>
              <a:rPr lang="zh-CN" sz="1460">
                <a:solidFill>
                  <a:srgbClr val="1F2D3D"/>
                </a:solidFill>
                <a:latin typeface="Arial"/>
                <a:ea typeface="PingFang SC"/>
                <a:cs typeface="Arial"/>
              </a:rPr>
              <a:t>Forest 的核心不是前后端分离本身，而是业务域模块化。只要持续守住边界，它会逐步收敛成一套可组合、可演进的模块化产品体系。</a:t>
            </a:r>
            <a:endParaRPr lang="zh-CN" sz="1460"/>
          </a:p>
        </p:txBody>
      </p:sp>
      <p:sp>
        <p:nvSpPr>
          <p:cNvPr id="8" name="Shape 8"/>
          <p:cNvSpPr txBox="1"/>
          <p:nvPr/>
        </p:nvSpPr>
        <p:spPr>
          <a:xfrm>
            <a:off x="640000" y="5800000"/>
            <a:ext cx="10940000" cy="420000"/>
          </a:xfrm>
          <a:prstGeom prst="roundRect">
            <a:avLst/>
          </a:prstGeom>
          <a:solidFill>
            <a:srgbClr val="234F3D"/>
          </a:solidFill>
          <a:ln>
            <a:noFill/>
          </a:ln>
        </p:spPr>
        <p:txBody>
          <a:bodyPr wrap="square" lIns="120000" tIns="80000" rIns="120000" bIns="80000" anchor="ctr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关键词：业务高内聚、模块低耦合、应用可组合、工程可持续演进</a:t>
            </a:r>
            <a:endParaRPr lang="zh-CN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est Theme">
  <a:themeElements>
    <a:clrScheme name="Forest">
      <a:dk1>
        <a:srgbClr val="1F2D3D"/>
      </a:dk1>
      <a:lt1>
        <a:srgbClr val="FFFFFF"/>
      </a:lt1>
      <a:dk2>
        <a:srgbClr val="234F3D"/>
      </a:dk2>
      <a:lt2>
        <a:srgbClr val="F7F4EE"/>
      </a:lt2>
      <a:accent1>
        <a:srgbClr val="97BC62"/>
      </a:accent1>
      <a:accent2>
        <a:srgbClr val="234F3D"/>
      </a:accent2>
      <a:accent3>
        <a:srgbClr val="5C6B7A"/>
      </a:accent3>
      <a:accent4>
        <a:srgbClr val="E8F0E6"/>
      </a:accent4>
      <a:accent5>
        <a:srgbClr val="D8E0D9"/>
      </a:accent5>
      <a:accent6>
        <a:srgbClr val="18372B"/>
      </a:accent6>
      <a:hlink>
        <a:srgbClr val="0563C1"/>
      </a:hlink>
      <a:folHlink>
        <a:srgbClr val="954F72"/>
      </a:folHlink>
    </a:clrScheme>
    <a:fontScheme name="Forest Fonts">
      <a:majorFont>
        <a:latin typeface="Arial"/>
        <a:ea typeface="PingFang SC"/>
        <a:cs typeface="Arial"/>
      </a:majorFont>
      <a:minorFont>
        <a:latin typeface="Arial"/>
        <a:ea typeface="PingFang SC"/>
        <a:cs typeface="Arial"/>
      </a:minorFont>
    </a:fontScheme>
    <a:fmtScheme name="Forest Format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Widescreen</PresentationFormat>
  <Slides>9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9</vt:i4>
      </vt:variant>
    </vt:vector>
  </HeadingPairs>
  <TitlesOfParts>
    <vt:vector size="9" baseType="lpstr">
      <vt:lpstr>Forest 项目架构整理</vt:lpstr>
      <vt:lpstr>设计目标与原则</vt:lpstr>
      <vt:lpstr>顶层目录职责</vt:lpstr>
      <vt:lpstr>后端架构</vt:lpstr>
      <vt:lpstr>当前模块版图</vt:lpstr>
      <vt:lpstr>前端架构</vt:lpstr>
      <vt:lpstr>前端抽象方式</vt:lpstr>
      <vt:lpstr>组合规则与依赖方向</vt:lpstr>
      <vt:lpstr>当前状态与结论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 项目架构整理</dc:title>
  <dc:creator>OpenAI Codex</dc:creator>
  <cp:lastModifiedBy>OpenAI Codex</cp:lastModifiedBy>
  <dcterms:created xsi:type="dcterms:W3CDTF">2026-04-07T15:47:51Z</dcterms:created>
  <dcterms:modified xsi:type="dcterms:W3CDTF">2026-04-07T15:47:51Z</dcterms:modified>
</cp:coreProperties>
</file>